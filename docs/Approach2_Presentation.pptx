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hitecture" id="{b4cc65b3-47fa-a8d3-c245-247a125bfc0b}">
          <p14:sldIdLst>
            <p14:sldId id="256"/>
          </p14:sldIdLst>
        </p14:section>
        <p14:section name="Results" id="{518ef654-3321-df3a-726a-d23039fdbd9d}">
          <p14:sldIdLst>
            <p14:sldId id="257"/>
          </p14:sldIdLst>
        </p14:section>
        <p14:section name="Approach 1 vs 2" id="{731fa18b-988a-ffcc-6809-1a39ec27b4fc}">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84A"/>
                </a:solidFill>
                <a:latin typeface="+mn-lt"/>
              </a:defRPr>
            </a:pPr>
            <a:r>
              <a:rPr sz="1400" b="0" i="0" u="none" strike="noStrike">
                <a:solidFill>
                  <a:srgbClr val="16384A"/>
                </a:solidFill>
                <a:latin typeface="+mn-lt"/>
              </a:rPr>
              <a:t>Impossible requests: correctly refused (%)</a:t>
            </a:r>
          </a:p>
        </c:rich>
      </c:tx>
      <c:layout/>
      <c:overlay val="0"/>
    </c:title>
    <c:autoTitleDeleted val="0"/>
    <c:plotArea>
      <c:layout/>
      <c:barChart>
        <c:barDir val="col"/>
        <c:grouping val="clustered"/>
        <c:varyColors val="0"/>
        <c:ser>
          <c:idx val="0"/>
          <c:order val="0"/>
          <c:tx>
            <c:strRef>
              <c:f>Sheet1!$B$1</c:f>
              <c:strCache>
                <c:ptCount val="1"/>
                <c:pt idx="0">
                  <c:v>Agent alone</c:v>
                </c:pt>
              </c:strCache>
            </c:strRef>
          </c:tx>
          <c:spPr>
            <a:solidFill>
              <a:srgbClr val="7B8794"/>
            </a:solidFill>
            <a:effectLst/>
          </c:spPr>
          <c:invertIfNegative val="0"/>
          <c:dLbls>
            <c:numFmt formatCode="0&quot;%&quot;"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QT4-1</c:v>
                  </c:pt>
                  <c:pt idx="1">
                    <c:v>QT4-2</c:v>
                  </c:pt>
                  <c:pt idx="2">
                    <c:v>QT4-3*</c:v>
                  </c:pt>
                </c:lvl>
              </c:multiLvlStrCache>
            </c:multiLvlStrRef>
          </c:cat>
          <c:val>
            <c:numRef>
              <c:f>Sheet1!$B$2:$B$4</c:f>
              <c:numCache>
                <c:formatCode>General</c:formatCode>
                <c:ptCount val="3"/>
                <c:pt idx="0">
                  <c:v>40</c:v>
                </c:pt>
                <c:pt idx="1">
                  <c:v>0</c:v>
                </c:pt>
                <c:pt idx="2">
                  <c:v>44</c:v>
                </c:pt>
              </c:numCache>
            </c:numRef>
          </c:val>
        </c:ser>
        <c:ser>
          <c:idx val="1"/>
          <c:order val="1"/>
          <c:tx>
            <c:strRef>
              <c:f>Sheet1!$C$1</c:f>
              <c:strCache>
                <c:ptCount val="1"/>
                <c:pt idx="0">
                  <c:v>Prompt self-check</c:v>
                </c:pt>
              </c:strCache>
            </c:strRef>
          </c:tx>
          <c:spPr>
            <a:solidFill>
              <a:srgbClr val="B8C4CE"/>
            </a:solidFill>
            <a:effectLst/>
          </c:spPr>
          <c:invertIfNegative val="0"/>
          <c:dLbls>
            <c:numFmt formatCode="0&quot;%&quot;"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QT4-1</c:v>
                  </c:pt>
                  <c:pt idx="1">
                    <c:v>QT4-2</c:v>
                  </c:pt>
                  <c:pt idx="2">
                    <c:v>QT4-3*</c:v>
                  </c:pt>
                </c:lvl>
              </c:multiLvlStrCache>
            </c:multiLvlStrRef>
          </c:cat>
          <c:val>
            <c:numRef>
              <c:f>Sheet1!$C$2:$C$4</c:f>
              <c:numCache>
                <c:formatCode>General</c:formatCode>
                <c:ptCount val="3"/>
                <c:pt idx="0">
                  <c:v>100</c:v>
                </c:pt>
                <c:pt idx="1">
                  <c:v>100</c:v>
                </c:pt>
                <c:pt idx="2">
                  <c:v>56</c:v>
                </c:pt>
              </c:numCache>
            </c:numRef>
          </c:val>
        </c:ser>
        <c:ser>
          <c:idx val="2"/>
          <c:order val="2"/>
          <c:tx>
            <c:strRef>
              <c:f>Sheet1!$D$1</c:f>
              <c:strCache>
                <c:ptCount val="1"/>
                <c:pt idx="0">
                  <c:v>Gate: hint</c:v>
                </c:pt>
              </c:strCache>
            </c:strRef>
          </c:tx>
          <c:spPr>
            <a:solidFill>
              <a:srgbClr val="E39B2D"/>
            </a:solidFill>
            <a:effectLst/>
          </c:spPr>
          <c:invertIfNegative val="0"/>
          <c:dLbls>
            <c:numFmt formatCode="0&quot;%&quot;"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QT4-1</c:v>
                  </c:pt>
                  <c:pt idx="1">
                    <c:v>QT4-2</c:v>
                  </c:pt>
                  <c:pt idx="2">
                    <c:v>QT4-3*</c:v>
                  </c:pt>
                </c:lvl>
              </c:multiLvlStrCache>
            </c:multiLvlStrRef>
          </c:cat>
          <c:val>
            <c:numRef>
              <c:f>Sheet1!$D$2:$D$4</c:f>
              <c:numCache>
                <c:formatCode>General</c:formatCode>
                <c:ptCount val="3"/>
                <c:pt idx="0">
                  <c:v>100</c:v>
                </c:pt>
                <c:pt idx="1">
                  <c:v>100</c:v>
                </c:pt>
                <c:pt idx="2">
                  <c:v>44</c:v>
                </c:pt>
              </c:numCache>
            </c:numRef>
          </c:val>
        </c:ser>
        <c:ser>
          <c:idx val="3"/>
          <c:order val="3"/>
          <c:tx>
            <c:strRef>
              <c:f>Sheet1!$E$1</c:f>
              <c:strCache>
                <c:ptCount val="1"/>
                <c:pt idx="0">
                  <c:v>Gate: answer (0 calls)</c:v>
                </c:pt>
              </c:strCache>
            </c:strRef>
          </c:tx>
          <c:spPr>
            <a:solidFill>
              <a:srgbClr val="2E8B57"/>
            </a:solidFill>
            <a:effectLst/>
          </c:spPr>
          <c:invertIfNegative val="0"/>
          <c:dLbls>
            <c:numFmt formatCode="0&quot;%&quot;"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QT4-1</c:v>
                  </c:pt>
                  <c:pt idx="1">
                    <c:v>QT4-2</c:v>
                  </c:pt>
                  <c:pt idx="2">
                    <c:v>QT4-3*</c:v>
                  </c:pt>
                </c:lvl>
              </c:multiLvlStrCache>
            </c:multiLvlStrRef>
          </c:cat>
          <c:val>
            <c:numRef>
              <c:f>Sheet1!$E$2:$E$4</c:f>
              <c:numCache>
                <c:formatCode>General</c:formatCode>
                <c:ptCount val="3"/>
                <c:pt idx="0">
                  <c:v>100</c:v>
                </c:pt>
                <c:pt idx="1">
                  <c:v>100</c:v>
                </c:pt>
                <c:pt idx="2">
                  <c:v>44</c:v>
                </c:pt>
              </c:numCache>
            </c:numRef>
          </c:val>
        </c:ser>
        <c:dLbls>
          <c:numFmt formatCode="0&quot;%&quot;"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9525" cap="flat">
              <a:solidFill>
                <a:srgbClr val="D9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B8794"/>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runs once per request and calls no large model: the small model's reading of the request is looked up from a cache, device finish times are read from the simulator (CountdownTime), and Z3 checks whether one time can satisfy every statement. If not, hint mode warns the agent, answer mode replies to the user directly. If yes, Z3 also computes an allowed time window per action. Phase 2: the agent (SimuHome's ReAct agent, unchanged) works as usual; every schedule_workflow call passes through the gate: A refuses calls on an impossible request, B refuses times that are too late (or would overwrite an earlier goal on the same device; this follows SimuHome's scoring), C dry-runs the steps on a copy of the house and refuses steps that fail or change nothing. Refusals explain how to fix the call; each kind is capped at 2 per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impossible (self-contradictory) requests. The agent alone catches 4/10 QT4-1 and 0/8 QT4-2. Gate v2.1, hint mode: 10/10 and 8/8 with 1.0 and 2.0 large-model calls; answer mode: 10/10 and 8/8 with zero calls. A one-line self-check prompt is as accurate for this agent but costs 1.1 and 3.5 calls. QT4-3: 4/9 for both gate modes, which is the maximum in scope (5 of 9 are device run-time conflicts). Right: possible requests. No method beats the agent alone yet. The v2.0 'doubling' on QT4-1 (5/10) did not repeat in v2.1 (2/10): with n = 10 and a nondeterministic hosted model, that is within noise. Trace analysis: SimuHome's clock runs in real time; the agent uses the time from the start of the episode. With 6-13 minute episodes, QT4-3 pauses were 1.2-5 min early in all 8 scheduled cases, and in QT4-1 several start times were already in the past when submitted. Of the 8 QT4-1 failures with the gate, 1 was the gate's fault (a parser error made a possible request look impossible); the gate also fixed one wrong value. Next: the gate's early-time rule will be extended to deadline goals so it refuses these early pauses, then the missing QT4-2/QT4-3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1 checked the request inside every scheduling call and never looked at the agent's own time or commands. On contradictions the agent kept retrying times that could never pass (QT4-1: 4.3 calls per episode); re-parsing on every call made possible-request episodes 377 s instead of 218 s. Approach 2 decides once before the agent starts (hint: about 1 call, answer: 0 calls), and checks the agent's actual plan: too-late times, failing commands and workflows that would do nothing are refused with an explanation the agent can act on. Replaying all 151 real scheduling calls from session 1 through gate v2.1: no correct schedule blocked, mistakes flagged in 23 of 42 failed episodes. On possible requests there is no measured gain yet: run-to-run noise at n = 10 and API latency (the simulator clock runs in real time) dominate; the next gate fix targets the latency-induced early pauses.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8580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457200" y="932688"/>
            <a:ext cx="11247120" cy="384048"/>
          </a:xfrm>
          <a:prstGeom prst="rect">
            <a:avLst/>
          </a:prstGeom>
          <a:noFill/>
          <a:ln/>
        </p:spPr>
        <p:txBody>
          <a:bodyPr wrap="square" rtlCol="0"/>
          <a:lstStyle>
            <a:lvl1pPr indent="0" marL="0">
              <a:buNone/>
              <a:defRPr lang="en-US" sz="1500" dirty="0">
                <a:solidFill>
                  <a:schemeClr val="accent6"/>
                </a:solidFill>
                <a:latin typeface="Calibri" pitchFamily="34" charset="0"/>
                <a:ea typeface="Calibri" pitchFamily="34" charset="-122"/>
                <a:cs typeface="Calibri" pitchFamily="34" charset="-120"/>
              </a:defRPr>
            </a:lvl1pPr>
          </a:lstStyle>
          <a:p>
            <a:pPr indent="0" marL="0">
              <a:buNone/>
            </a:pPr>
            <a:endParaRPr lang="en-US" sz="1500" dirty="0"/>
          </a:p>
        </p:txBody>
      </p:sp>
      <p:sp>
        <p:nvSpPr>
          <p:cNvPr id="4" name="Text 0"/>
          <p:cNvSpPr/>
          <p:nvPr/>
        </p:nvSpPr>
        <p:spPr>
          <a:xfrm>
            <a:off x="457200" y="6446520"/>
            <a:ext cx="64008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SimuHome QT4 (scheduling) · approach 2</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Approach 2: check the request once, then check every action</a:t>
            </a:r>
            <a:endParaRPr lang="en-US" sz="3000" dirty="0"/>
          </a:p>
        </p:txBody>
      </p:sp>
      <p:sp>
        <p:nvSpPr>
          <p:cNvPr id="3" name="Text 0"/>
          <p:cNvSpPr/>
          <p:nvPr>
            <p:ph idx="101" type="body" hasCustomPrompt="1"/>
          </p:nvPr>
        </p:nvSpPr>
        <p:spPr>
          <a:xfrm>
            <a:off x="457200" y="932688"/>
            <a:ext cx="11247120" cy="384048"/>
          </a:xfrm>
          <a:prstGeom prst="rect">
            <a:avLst/>
          </a:prstGeom>
          <a:noFill/>
          <a:ln/>
        </p:spPr>
        <p:txBody>
          <a:bodyPr wrap="square" lIns="0" tIns="0" rIns="0" bIns="0" rtlCol="0" anchor="t"/>
          <a:lstStyle/>
          <a:p>
            <a:pPr indent="0" marL="0">
              <a:buNone/>
            </a:pPr>
            <a:r>
              <a:rPr lang="en-US" sz="1500" dirty="0">
                <a:solidFill>
                  <a:schemeClr val="accent6"/>
                </a:solidFill>
                <a:latin typeface="Calibri" pitchFamily="34" charset="0"/>
                <a:ea typeface="Calibri" pitchFamily="34" charset="-122"/>
                <a:cs typeface="Calibri" pitchFamily="34" charset="-120"/>
              </a:rPr>
              <a:t>A small model and a solver decide before the large model acts; SimuHome's agent is unchanged</a:t>
            </a:r>
            <a:endParaRPr lang="en-US" sz="1500" dirty="0"/>
          </a:p>
        </p:txBody>
      </p:sp>
      <p:sp>
        <p:nvSpPr>
          <p:cNvPr id="4" name="phase 1 lane"/>
          <p:cNvSpPr/>
          <p:nvPr/>
        </p:nvSpPr>
        <p:spPr>
          <a:xfrm>
            <a:off x="457200" y="1463040"/>
            <a:ext cx="11247120" cy="2148840"/>
          </a:xfrm>
          <a:prstGeom prst="roundRect">
            <a:avLst>
              <a:gd name="adj" fmla="val 4255"/>
            </a:avLst>
          </a:prstGeom>
          <a:solidFill>
            <a:schemeClr val="bg2"/>
          </a:solidFill>
          <a:ln w="12700">
            <a:solidFill>
              <a:schemeClr val="bg2"/>
            </a:solidFill>
            <a:prstDash val="solid"/>
          </a:ln>
        </p:spPr>
      </p:sp>
      <p:sp>
        <p:nvSpPr>
          <p:cNvPr id="5" name="phase 1 label"/>
          <p:cNvSpPr txBox="1"/>
          <p:nvPr/>
        </p:nvSpPr>
        <p:spPr>
          <a:xfrm>
            <a:off x="685800" y="1554480"/>
            <a:ext cx="8229600" cy="320040"/>
          </a:xfrm>
          <a:prstGeom prst="rect">
            <a:avLst/>
          </a:prstGeom>
          <a:noFill/>
          <a:ln/>
        </p:spPr>
        <p:txBody>
          <a:bodyPr wrap="square" lIns="0" tIns="0" rIns="0" bIns="0" rtlCol="0" anchor="ctr"/>
          <a:lstStyle/>
          <a:p>
            <a:pPr algn="l" indent="0" marL="0">
              <a:buNone/>
            </a:pPr>
            <a:r>
              <a:rPr lang="en-US" sz="1300" b="1" dirty="0">
                <a:solidFill>
                  <a:schemeClr val="accent1"/>
                </a:solidFill>
              </a:rPr>
              <a:t>1  BEFORE THE AGENT STARTS  ·  once per request  ·  no large-model call</a:t>
            </a:r>
            <a:endParaRPr lang="en-US" sz="1300" dirty="0"/>
          </a:p>
        </p:txBody>
      </p:sp>
      <p:sp>
        <p:nvSpPr>
          <p:cNvPr id="6" name="user request 1"/>
          <p:cNvSpPr/>
          <p:nvPr/>
        </p:nvSpPr>
        <p:spPr>
          <a:xfrm>
            <a:off x="685800" y="2103120"/>
            <a:ext cx="1600200" cy="1097280"/>
          </a:xfrm>
          <a:prstGeom prst="roundRect">
            <a:avLst>
              <a:gd name="adj" fmla="val 6667"/>
            </a:avLst>
          </a:prstGeom>
          <a:solidFill>
            <a:srgbClr val="7B8794"/>
          </a:solidFill>
          <a:ln w="12700">
            <a:solidFill>
              <a:srgbClr val="7B8794"/>
            </a:solidFill>
            <a:prstDash val="solid"/>
          </a:ln>
        </p:spPr>
      </p:sp>
      <p:sp>
        <p:nvSpPr>
          <p:cNvPr id="7" name="user request 1 text"/>
          <p:cNvSpPr txBox="1"/>
          <p:nvPr/>
        </p:nvSpPr>
        <p:spPr>
          <a:xfrm>
            <a:off x="740664" y="2103120"/>
            <a:ext cx="1490472" cy="1097280"/>
          </a:xfrm>
          <a:prstGeom prst="rect">
            <a:avLst/>
          </a:prstGeom>
          <a:noFill/>
          <a:ln/>
        </p:spPr>
        <p:txBody>
          <a:bodyPr wrap="square" lIns="25400" tIns="25400" rIns="25400" bIns="25400" rtlCol="0" anchor="ctr"/>
          <a:lstStyle/>
          <a:p>
            <a:pPr algn="ctr" indent="0" marL="0">
              <a:spcAft>
                <a:spcPts val="200"/>
              </a:spcAft>
              <a:buNone/>
            </a:pPr>
            <a:r>
              <a:rPr lang="en-US" sz="1400" b="1" dirty="0">
                <a:solidFill>
                  <a:schemeClr val="bg1"/>
                </a:solidFill>
              </a:rPr>
              <a:t>User request</a:t>
            </a:r>
            <a:endParaRPr lang="en-US" sz="1400" dirty="0"/>
          </a:p>
          <a:p>
            <a:pPr algn="ctr" indent="0" marL="0">
              <a:spcAft>
                <a:spcPts val="200"/>
              </a:spcAft>
              <a:buNone/>
            </a:pPr>
            <a:r>
              <a:rPr lang="en-US" sz="1100" dirty="0">
                <a:solidFill>
                  <a:schemeClr val="bg1"/>
                </a:solidFill>
              </a:rPr>
              <a:t>e.g. "at 12:23 PM, i.e. 12 min from now"</a:t>
            </a:r>
            <a:endParaRPr lang="en-US" sz="1400" dirty="0"/>
          </a:p>
        </p:txBody>
      </p:sp>
      <p:sp>
        <p:nvSpPr>
          <p:cNvPr id="8" name="small model"/>
          <p:cNvSpPr/>
          <p:nvPr/>
        </p:nvSpPr>
        <p:spPr>
          <a:xfrm>
            <a:off x="2606040" y="2103120"/>
            <a:ext cx="1874520" cy="1097280"/>
          </a:xfrm>
          <a:prstGeom prst="roundRect">
            <a:avLst>
              <a:gd name="adj" fmla="val 6667"/>
            </a:avLst>
          </a:prstGeom>
          <a:solidFill>
            <a:srgbClr val="1B998B"/>
          </a:solidFill>
          <a:ln w="12700">
            <a:solidFill>
              <a:srgbClr val="1B998B"/>
            </a:solidFill>
            <a:prstDash val="solid"/>
          </a:ln>
        </p:spPr>
      </p:sp>
      <p:sp>
        <p:nvSpPr>
          <p:cNvPr id="9" name="small model text"/>
          <p:cNvSpPr txBox="1"/>
          <p:nvPr/>
        </p:nvSpPr>
        <p:spPr>
          <a:xfrm>
            <a:off x="2660904" y="2103120"/>
            <a:ext cx="1764792" cy="1097280"/>
          </a:xfrm>
          <a:prstGeom prst="rect">
            <a:avLst/>
          </a:prstGeom>
          <a:noFill/>
          <a:ln/>
        </p:spPr>
        <p:txBody>
          <a:bodyPr wrap="square" lIns="25400" tIns="25400" rIns="25400" bIns="25400" rtlCol="0" anchor="ctr"/>
          <a:lstStyle/>
          <a:p>
            <a:pPr algn="ctr" indent="0" marL="0">
              <a:spcAft>
                <a:spcPts val="200"/>
              </a:spcAft>
              <a:buNone/>
            </a:pPr>
            <a:r>
              <a:rPr lang="en-US" sz="1400" b="1" dirty="0">
                <a:solidFill>
                  <a:schemeClr val="bg1"/>
                </a:solidFill>
              </a:rPr>
              <a:t>Small model</a:t>
            </a:r>
            <a:endParaRPr lang="en-US" sz="1400" dirty="0"/>
          </a:p>
          <a:p>
            <a:pPr algn="ctr" indent="0" marL="0">
              <a:spcAft>
                <a:spcPts val="200"/>
              </a:spcAft>
              <a:buNone/>
            </a:pPr>
            <a:r>
              <a:rPr lang="en-US" sz="1100" dirty="0">
                <a:solidFill>
                  <a:schemeClr val="bg1"/>
                </a:solidFill>
              </a:rPr>
              <a:t>Qwen3-1.7B + LoRA writes</a:t>
            </a:r>
            <a:endParaRPr lang="en-US" sz="1400" dirty="0"/>
          </a:p>
          <a:p>
            <a:pPr algn="ctr" indent="0" marL="0">
              <a:spcAft>
                <a:spcPts val="200"/>
              </a:spcAft>
              <a:buNone/>
            </a:pPr>
            <a:r>
              <a:rPr lang="en-US" sz="1100" dirty="0">
                <a:solidFill>
                  <a:schemeClr val="bg1"/>
                </a:solidFill>
              </a:rPr>
              <a:t>'what + when'</a:t>
            </a:r>
            <a:endParaRPr lang="en-US" sz="1400" dirty="0"/>
          </a:p>
        </p:txBody>
      </p:sp>
      <p:sp>
        <p:nvSpPr>
          <p:cNvPr id="10" name="read house"/>
          <p:cNvSpPr/>
          <p:nvPr/>
        </p:nvSpPr>
        <p:spPr>
          <a:xfrm>
            <a:off x="4800600" y="2103120"/>
            <a:ext cx="1874520" cy="1097280"/>
          </a:xfrm>
          <a:prstGeom prst="roundRect">
            <a:avLst>
              <a:gd name="adj" fmla="val 6667"/>
            </a:avLst>
          </a:prstGeom>
          <a:solidFill>
            <a:srgbClr val="1B998B"/>
          </a:solidFill>
          <a:ln w="12700">
            <a:solidFill>
              <a:srgbClr val="1B998B"/>
            </a:solidFill>
            <a:prstDash val="solid"/>
          </a:ln>
        </p:spPr>
      </p:sp>
      <p:sp>
        <p:nvSpPr>
          <p:cNvPr id="11" name="read house text"/>
          <p:cNvSpPr txBox="1"/>
          <p:nvPr/>
        </p:nvSpPr>
        <p:spPr>
          <a:xfrm>
            <a:off x="4855464" y="2103120"/>
            <a:ext cx="1764792" cy="1097280"/>
          </a:xfrm>
          <a:prstGeom prst="rect">
            <a:avLst/>
          </a:prstGeom>
          <a:noFill/>
          <a:ln/>
        </p:spPr>
        <p:txBody>
          <a:bodyPr wrap="square" lIns="25400" tIns="25400" rIns="25400" bIns="25400" rtlCol="0" anchor="ctr"/>
          <a:lstStyle/>
          <a:p>
            <a:pPr algn="ctr" indent="0" marL="0">
              <a:spcAft>
                <a:spcPts val="200"/>
              </a:spcAft>
              <a:buNone/>
            </a:pPr>
            <a:r>
              <a:rPr lang="en-US" sz="1400" b="1" dirty="0">
                <a:solidFill>
                  <a:schemeClr val="bg1"/>
                </a:solidFill>
              </a:rPr>
              <a:t>Read the house</a:t>
            </a:r>
            <a:endParaRPr lang="en-US" sz="1400" dirty="0"/>
          </a:p>
          <a:p>
            <a:pPr algn="ctr" indent="0" marL="0">
              <a:spcAft>
                <a:spcPts val="200"/>
              </a:spcAft>
              <a:buNone/>
            </a:pPr>
            <a:r>
              <a:rPr lang="en-US" sz="1100" dirty="0">
                <a:solidFill>
                  <a:schemeClr val="bg1"/>
                </a:solidFill>
              </a:rPr>
              <a:t>device finish times from</a:t>
            </a:r>
            <a:endParaRPr lang="en-US" sz="1400" dirty="0"/>
          </a:p>
          <a:p>
            <a:pPr algn="ctr" indent="0" marL="0">
              <a:spcAft>
                <a:spcPts val="200"/>
              </a:spcAft>
              <a:buNone/>
            </a:pPr>
            <a:r>
              <a:rPr lang="en-US" sz="1100" dirty="0">
                <a:solidFill>
                  <a:schemeClr val="bg1"/>
                </a:solidFill>
              </a:rPr>
              <a:t>the simulator</a:t>
            </a:r>
            <a:endParaRPr lang="en-US" sz="1400" dirty="0"/>
          </a:p>
        </p:txBody>
      </p:sp>
      <p:sp>
        <p:nvSpPr>
          <p:cNvPr id="12" name="z3"/>
          <p:cNvSpPr/>
          <p:nvPr/>
        </p:nvSpPr>
        <p:spPr>
          <a:xfrm>
            <a:off x="6949440" y="1938528"/>
            <a:ext cx="1828800" cy="1426464"/>
          </a:xfrm>
          <a:prstGeom prst="diamond">
            <a:avLst/>
          </a:prstGeom>
          <a:solidFill>
            <a:srgbClr val="16384A"/>
          </a:solidFill>
          <a:ln w="12700">
            <a:solidFill>
              <a:srgbClr val="16384A"/>
            </a:solidFill>
            <a:prstDash val="solid"/>
          </a:ln>
        </p:spPr>
      </p:sp>
      <p:sp>
        <p:nvSpPr>
          <p:cNvPr id="13" name="z3 text"/>
          <p:cNvSpPr txBox="1"/>
          <p:nvPr/>
        </p:nvSpPr>
        <p:spPr>
          <a:xfrm>
            <a:off x="6949440" y="1938528"/>
            <a:ext cx="1828800" cy="1426464"/>
          </a:xfrm>
          <a:prstGeom prst="rect">
            <a:avLst/>
          </a:prstGeom>
          <a:noFill/>
          <a:ln/>
        </p:spPr>
        <p:txBody>
          <a:bodyPr wrap="square" lIns="0" tIns="0" rIns="0" bIns="0" rtlCol="0" anchor="ctr"/>
          <a:lstStyle/>
          <a:p>
            <a:pPr algn="ctr" indent="0" marL="0">
              <a:buNone/>
            </a:pPr>
            <a:r>
              <a:rPr lang="en-US" sz="1200" b="1" dirty="0">
                <a:solidFill>
                  <a:schemeClr val="bg1"/>
                </a:solidFill>
              </a:rPr>
              <a:t>Z3: one time</a:t>
            </a:r>
            <a:endParaRPr lang="en-US" sz="1200" dirty="0"/>
          </a:p>
          <a:p>
            <a:pPr algn="ctr" indent="0" marL="0">
              <a:buNone/>
            </a:pPr>
            <a:r>
              <a:rPr lang="en-US" sz="1200" b="1" dirty="0">
                <a:solidFill>
                  <a:schemeClr val="bg1"/>
                </a:solidFill>
              </a:rPr>
              <a:t>fits all?</a:t>
            </a:r>
            <a:endParaRPr lang="en-US" sz="1200" dirty="0"/>
          </a:p>
        </p:txBody>
      </p:sp>
      <p:sp>
        <p:nvSpPr>
          <p:cNvPr id="14" name="hint"/>
          <p:cNvSpPr/>
          <p:nvPr/>
        </p:nvSpPr>
        <p:spPr>
          <a:xfrm>
            <a:off x="9464040" y="1828800"/>
            <a:ext cx="2057400" cy="749808"/>
          </a:xfrm>
          <a:prstGeom prst="roundRect">
            <a:avLst>
              <a:gd name="adj" fmla="val 9756"/>
            </a:avLst>
          </a:prstGeom>
          <a:solidFill>
            <a:srgbClr val="E39B2D"/>
          </a:solidFill>
          <a:ln w="12700">
            <a:solidFill>
              <a:srgbClr val="E39B2D"/>
            </a:solidFill>
            <a:prstDash val="solid"/>
          </a:ln>
        </p:spPr>
      </p:sp>
      <p:sp>
        <p:nvSpPr>
          <p:cNvPr id="15" name="hint text"/>
          <p:cNvSpPr txBox="1"/>
          <p:nvPr/>
        </p:nvSpPr>
        <p:spPr>
          <a:xfrm>
            <a:off x="9518904" y="1828800"/>
            <a:ext cx="1947672" cy="749808"/>
          </a:xfrm>
          <a:prstGeom prst="rect">
            <a:avLst/>
          </a:prstGeom>
          <a:noFill/>
          <a:ln/>
        </p:spPr>
        <p:txBody>
          <a:bodyPr wrap="square" lIns="25400" tIns="25400" rIns="25400" bIns="25400" rtlCol="0" anchor="ctr"/>
          <a:lstStyle/>
          <a:p>
            <a:pPr algn="ctr" indent="0" marL="0">
              <a:spcAft>
                <a:spcPts val="200"/>
              </a:spcAft>
              <a:buNone/>
            </a:pPr>
            <a:r>
              <a:rPr lang="en-US" sz="1300" b="1" dirty="0">
                <a:solidFill>
                  <a:schemeClr val="bg1"/>
                </a:solidFill>
              </a:rPr>
              <a:t>No → hint</a:t>
            </a:r>
            <a:endParaRPr lang="en-US" sz="1300" dirty="0"/>
          </a:p>
          <a:p>
            <a:pPr algn="ctr" indent="0" marL="0">
              <a:spcAft>
                <a:spcPts val="200"/>
              </a:spcAft>
              <a:buNone/>
            </a:pPr>
            <a:r>
              <a:rPr lang="en-US" sz="1100" dirty="0">
                <a:solidFill>
                  <a:schemeClr val="bg1"/>
                </a:solidFill>
              </a:rPr>
              <a:t>warn the agent (1 call)</a:t>
            </a:r>
            <a:endParaRPr lang="en-US" sz="1300" dirty="0"/>
          </a:p>
        </p:txBody>
      </p:sp>
      <p:sp>
        <p:nvSpPr>
          <p:cNvPr id="16" name="answer"/>
          <p:cNvSpPr/>
          <p:nvPr/>
        </p:nvSpPr>
        <p:spPr>
          <a:xfrm>
            <a:off x="9464040" y="2724912"/>
            <a:ext cx="2057400" cy="749808"/>
          </a:xfrm>
          <a:prstGeom prst="roundRect">
            <a:avLst>
              <a:gd name="adj" fmla="val 9756"/>
            </a:avLst>
          </a:prstGeom>
          <a:solidFill>
            <a:srgbClr val="2E8B57"/>
          </a:solidFill>
          <a:ln w="12700">
            <a:solidFill>
              <a:srgbClr val="2E8B57"/>
            </a:solidFill>
            <a:prstDash val="solid"/>
          </a:ln>
        </p:spPr>
      </p:sp>
      <p:sp>
        <p:nvSpPr>
          <p:cNvPr id="17" name="answer text"/>
          <p:cNvSpPr txBox="1"/>
          <p:nvPr/>
        </p:nvSpPr>
        <p:spPr>
          <a:xfrm>
            <a:off x="9518904" y="2724912"/>
            <a:ext cx="1947672" cy="749808"/>
          </a:xfrm>
          <a:prstGeom prst="rect">
            <a:avLst/>
          </a:prstGeom>
          <a:noFill/>
          <a:ln/>
        </p:spPr>
        <p:txBody>
          <a:bodyPr wrap="square" lIns="25400" tIns="25400" rIns="25400" bIns="25400" rtlCol="0" anchor="ctr"/>
          <a:lstStyle/>
          <a:p>
            <a:pPr algn="ctr" indent="0" marL="0">
              <a:spcAft>
                <a:spcPts val="200"/>
              </a:spcAft>
              <a:buNone/>
            </a:pPr>
            <a:r>
              <a:rPr lang="en-US" sz="1300" b="1" dirty="0">
                <a:solidFill>
                  <a:schemeClr val="bg1"/>
                </a:solidFill>
              </a:rPr>
              <a:t>No → answer</a:t>
            </a:r>
            <a:endParaRPr lang="en-US" sz="1300" dirty="0"/>
          </a:p>
          <a:p>
            <a:pPr algn="ctr" indent="0" marL="0">
              <a:spcAft>
                <a:spcPts val="200"/>
              </a:spcAft>
              <a:buNone/>
            </a:pPr>
            <a:r>
              <a:rPr lang="en-US" sz="1100" dirty="0">
                <a:solidFill>
                  <a:schemeClr val="bg1"/>
                </a:solidFill>
              </a:rPr>
              <a:t>reply directly (0 calls)</a:t>
            </a:r>
            <a:endParaRPr lang="en-US" sz="1300" dirty="0"/>
          </a:p>
        </p:txBody>
      </p:sp>
      <p:sp>
        <p:nvSpPr>
          <p:cNvPr id="18" name="a1"/>
          <p:cNvSpPr/>
          <p:nvPr/>
        </p:nvSpPr>
        <p:spPr>
          <a:xfrm>
            <a:off x="2286000" y="2651760"/>
            <a:ext cx="320040" cy="914"/>
          </a:xfrm>
          <a:prstGeom prst="line">
            <a:avLst/>
          </a:prstGeom>
          <a:noFill/>
          <a:ln w="25400">
            <a:solidFill>
              <a:srgbClr val="7B8794"/>
            </a:solidFill>
            <a:prstDash val="solid"/>
            <a:tailEnd type="triangle"/>
          </a:ln>
        </p:spPr>
      </p:sp>
      <p:sp>
        <p:nvSpPr>
          <p:cNvPr id="19" name="a2"/>
          <p:cNvSpPr/>
          <p:nvPr/>
        </p:nvSpPr>
        <p:spPr>
          <a:xfrm>
            <a:off x="4480560" y="2651760"/>
            <a:ext cx="320040" cy="914"/>
          </a:xfrm>
          <a:prstGeom prst="line">
            <a:avLst/>
          </a:prstGeom>
          <a:noFill/>
          <a:ln w="25400">
            <a:solidFill>
              <a:srgbClr val="7B8794"/>
            </a:solidFill>
            <a:prstDash val="solid"/>
            <a:tailEnd type="triangle"/>
          </a:ln>
        </p:spPr>
      </p:sp>
      <p:sp>
        <p:nvSpPr>
          <p:cNvPr id="20" name="a3"/>
          <p:cNvSpPr/>
          <p:nvPr/>
        </p:nvSpPr>
        <p:spPr>
          <a:xfrm>
            <a:off x="6675120" y="2651760"/>
            <a:ext cx="274320" cy="914"/>
          </a:xfrm>
          <a:prstGeom prst="line">
            <a:avLst/>
          </a:prstGeom>
          <a:noFill/>
          <a:ln w="25400">
            <a:solidFill>
              <a:srgbClr val="7B8794"/>
            </a:solidFill>
            <a:prstDash val="solid"/>
            <a:tailEnd type="triangle"/>
          </a:ln>
        </p:spPr>
      </p:sp>
      <p:sp>
        <p:nvSpPr>
          <p:cNvPr id="21" name="a4"/>
          <p:cNvSpPr/>
          <p:nvPr/>
        </p:nvSpPr>
        <p:spPr>
          <a:xfrm flipV="1">
            <a:off x="8778240" y="2212848"/>
            <a:ext cx="685800" cy="438912"/>
          </a:xfrm>
          <a:prstGeom prst="line">
            <a:avLst/>
          </a:prstGeom>
          <a:noFill/>
          <a:ln w="25400">
            <a:solidFill>
              <a:srgbClr val="C0392B"/>
            </a:solidFill>
            <a:prstDash val="solid"/>
            <a:tailEnd type="triangle"/>
          </a:ln>
        </p:spPr>
      </p:sp>
      <p:sp>
        <p:nvSpPr>
          <p:cNvPr id="22" name="a5"/>
          <p:cNvSpPr/>
          <p:nvPr/>
        </p:nvSpPr>
        <p:spPr>
          <a:xfrm>
            <a:off x="8778240" y="2651760"/>
            <a:ext cx="685800" cy="438912"/>
          </a:xfrm>
          <a:prstGeom prst="line">
            <a:avLst/>
          </a:prstGeom>
          <a:noFill/>
          <a:ln w="25400">
            <a:solidFill>
              <a:srgbClr val="C0392B"/>
            </a:solidFill>
            <a:prstDash val="solid"/>
            <a:tailEnd type="triangle"/>
          </a:ln>
        </p:spPr>
      </p:sp>
      <p:sp>
        <p:nvSpPr>
          <p:cNvPr id="23" name="phase 2 lane"/>
          <p:cNvSpPr/>
          <p:nvPr/>
        </p:nvSpPr>
        <p:spPr>
          <a:xfrm>
            <a:off x="457200" y="3840480"/>
            <a:ext cx="11247120" cy="2468880"/>
          </a:xfrm>
          <a:prstGeom prst="roundRect">
            <a:avLst>
              <a:gd name="adj" fmla="val 3704"/>
            </a:avLst>
          </a:prstGeom>
          <a:solidFill>
            <a:schemeClr val="bg2"/>
          </a:solidFill>
          <a:ln w="12700">
            <a:solidFill>
              <a:schemeClr val="bg2"/>
            </a:solidFill>
            <a:prstDash val="solid"/>
          </a:ln>
        </p:spPr>
      </p:sp>
      <p:sp>
        <p:nvSpPr>
          <p:cNvPr id="24" name="phase 2 label"/>
          <p:cNvSpPr txBox="1"/>
          <p:nvPr/>
        </p:nvSpPr>
        <p:spPr>
          <a:xfrm>
            <a:off x="685800" y="3931920"/>
            <a:ext cx="8229600" cy="320040"/>
          </a:xfrm>
          <a:prstGeom prst="rect">
            <a:avLst/>
          </a:prstGeom>
          <a:noFill/>
          <a:ln/>
        </p:spPr>
        <p:txBody>
          <a:bodyPr wrap="square" lIns="0" tIns="0" rIns="0" bIns="0" rtlCol="0" anchor="ctr"/>
          <a:lstStyle/>
          <a:p>
            <a:pPr algn="l" indent="0" marL="0">
              <a:buNone/>
            </a:pPr>
            <a:r>
              <a:rPr lang="en-US" sz="1300" b="1" dirty="0">
                <a:solidFill>
                  <a:schemeClr val="accent3"/>
                </a:solidFill>
              </a:rPr>
              <a:t>2  WHILE THE AGENT WORKS  ·  every schedule_workflow call passes through the gate</a:t>
            </a:r>
            <a:endParaRPr lang="en-US" sz="1300" dirty="0"/>
          </a:p>
        </p:txBody>
      </p:sp>
      <p:sp>
        <p:nvSpPr>
          <p:cNvPr id="25" name="yes down"/>
          <p:cNvSpPr/>
          <p:nvPr/>
        </p:nvSpPr>
        <p:spPr>
          <a:xfrm>
            <a:off x="7863840" y="3364992"/>
            <a:ext cx="914" cy="914400"/>
          </a:xfrm>
          <a:prstGeom prst="line">
            <a:avLst/>
          </a:prstGeom>
          <a:noFill/>
          <a:ln w="25400">
            <a:solidFill>
              <a:srgbClr val="16384A"/>
            </a:solidFill>
            <a:prstDash val="dash"/>
          </a:ln>
        </p:spPr>
      </p:sp>
      <p:sp>
        <p:nvSpPr>
          <p:cNvPr id="26" name="yes across"/>
          <p:cNvSpPr/>
          <p:nvPr/>
        </p:nvSpPr>
        <p:spPr>
          <a:xfrm>
            <a:off x="6099048" y="4279392"/>
            <a:ext cx="1764792" cy="914"/>
          </a:xfrm>
          <a:prstGeom prst="line">
            <a:avLst/>
          </a:prstGeom>
          <a:noFill/>
          <a:ln w="25400">
            <a:solidFill>
              <a:srgbClr val="16384A"/>
            </a:solidFill>
            <a:prstDash val="dash"/>
          </a:ln>
        </p:spPr>
      </p:sp>
      <p:sp>
        <p:nvSpPr>
          <p:cNvPr id="27" name="yes into B"/>
          <p:cNvSpPr/>
          <p:nvPr/>
        </p:nvSpPr>
        <p:spPr>
          <a:xfrm>
            <a:off x="6099048" y="4279392"/>
            <a:ext cx="914" cy="402336"/>
          </a:xfrm>
          <a:prstGeom prst="line">
            <a:avLst/>
          </a:prstGeom>
          <a:noFill/>
          <a:ln w="25400">
            <a:solidFill>
              <a:srgbClr val="16384A"/>
            </a:solidFill>
            <a:prstDash val="dash"/>
            <a:tailEnd type="triangle"/>
          </a:ln>
        </p:spPr>
      </p:sp>
      <p:sp>
        <p:nvSpPr>
          <p:cNvPr id="28" name="yes label"/>
          <p:cNvSpPr txBox="1"/>
          <p:nvPr/>
        </p:nvSpPr>
        <p:spPr>
          <a:xfrm>
            <a:off x="8001000" y="3566160"/>
            <a:ext cx="1463040" cy="457200"/>
          </a:xfrm>
          <a:prstGeom prst="rect">
            <a:avLst/>
          </a:prstGeom>
          <a:noFill/>
          <a:ln/>
        </p:spPr>
        <p:txBody>
          <a:bodyPr wrap="square" lIns="0" tIns="0" rIns="0" bIns="0" rtlCol="0" anchor="ctr"/>
          <a:lstStyle/>
          <a:p>
            <a:pPr algn="l" indent="0" marL="0">
              <a:buNone/>
            </a:pPr>
            <a:r>
              <a:rPr lang="en-US" sz="1000" i="1" dirty="0">
                <a:solidFill>
                  <a:schemeClr val="tx2"/>
                </a:solidFill>
              </a:rPr>
              <a:t>Yes: allowed time</a:t>
            </a:r>
            <a:endParaRPr lang="en-US" sz="1000" dirty="0"/>
          </a:p>
          <a:p>
            <a:pPr algn="l" indent="0" marL="0">
              <a:buNone/>
            </a:pPr>
            <a:r>
              <a:rPr lang="en-US" sz="1000" i="1" dirty="0">
                <a:solidFill>
                  <a:schemeClr val="tx2"/>
                </a:solidFill>
              </a:rPr>
              <a:t>window per action</a:t>
            </a:r>
            <a:endParaRPr lang="en-US" sz="1000" dirty="0"/>
          </a:p>
        </p:txBody>
      </p:sp>
      <p:sp>
        <p:nvSpPr>
          <p:cNvPr id="29" name="agent"/>
          <p:cNvSpPr/>
          <p:nvPr/>
        </p:nvSpPr>
        <p:spPr>
          <a:xfrm>
            <a:off x="685800" y="4572000"/>
            <a:ext cx="1600200" cy="1051560"/>
          </a:xfrm>
          <a:prstGeom prst="roundRect">
            <a:avLst>
              <a:gd name="adj" fmla="val 6957"/>
            </a:avLst>
          </a:prstGeom>
          <a:solidFill>
            <a:srgbClr val="16384A"/>
          </a:solidFill>
          <a:ln w="12700">
            <a:solidFill>
              <a:srgbClr val="16384A"/>
            </a:solidFill>
            <a:prstDash val="solid"/>
          </a:ln>
        </p:spPr>
      </p:sp>
      <p:sp>
        <p:nvSpPr>
          <p:cNvPr id="30" name="agent text"/>
          <p:cNvSpPr txBox="1"/>
          <p:nvPr/>
        </p:nvSpPr>
        <p:spPr>
          <a:xfrm>
            <a:off x="740664" y="4572000"/>
            <a:ext cx="1490472" cy="1051560"/>
          </a:xfrm>
          <a:prstGeom prst="rect">
            <a:avLst/>
          </a:prstGeom>
          <a:noFill/>
          <a:ln/>
        </p:spPr>
        <p:txBody>
          <a:bodyPr wrap="square" lIns="25400" tIns="25400" rIns="25400" bIns="25400" rtlCol="0" anchor="ctr"/>
          <a:lstStyle/>
          <a:p>
            <a:pPr algn="ctr" indent="0" marL="0">
              <a:spcAft>
                <a:spcPts val="200"/>
              </a:spcAft>
              <a:buNone/>
            </a:pPr>
            <a:r>
              <a:rPr lang="en-US" sz="1400" b="1" dirty="0">
                <a:solidFill>
                  <a:schemeClr val="bg1"/>
                </a:solidFill>
              </a:rPr>
              <a:t>Agent</a:t>
            </a:r>
            <a:endParaRPr lang="en-US" sz="1400" dirty="0"/>
          </a:p>
          <a:p>
            <a:pPr algn="ctr" indent="0" marL="0">
              <a:spcAft>
                <a:spcPts val="200"/>
              </a:spcAft>
              <a:buNone/>
            </a:pPr>
            <a:r>
              <a:rPr lang="en-US" sz="1100" dirty="0">
                <a:solidFill>
                  <a:schemeClr val="bg1"/>
                </a:solidFill>
              </a:rPr>
              <a:t>large LLM</a:t>
            </a:r>
            <a:endParaRPr lang="en-US" sz="1400" dirty="0"/>
          </a:p>
          <a:p>
            <a:pPr algn="ctr" indent="0" marL="0">
              <a:spcAft>
                <a:spcPts val="200"/>
              </a:spcAft>
              <a:buNone/>
            </a:pPr>
            <a:r>
              <a:rPr lang="en-US" sz="1100" dirty="0">
                <a:solidFill>
                  <a:schemeClr val="bg1"/>
                </a:solidFill>
              </a:rPr>
              <a:t>(unchanged)</a:t>
            </a:r>
            <a:endParaRPr lang="en-US" sz="1400" dirty="0"/>
          </a:p>
        </p:txBody>
      </p:sp>
      <p:sp>
        <p:nvSpPr>
          <p:cNvPr id="31" name="gate frame"/>
          <p:cNvSpPr/>
          <p:nvPr/>
        </p:nvSpPr>
        <p:spPr>
          <a:xfrm>
            <a:off x="2606040" y="4343400"/>
            <a:ext cx="7040880" cy="1508760"/>
          </a:xfrm>
          <a:prstGeom prst="roundRect">
            <a:avLst>
              <a:gd name="adj" fmla="val 4848"/>
            </a:avLst>
          </a:prstGeom>
          <a:solidFill>
            <a:schemeClr val="bg1"/>
          </a:solidFill>
          <a:ln w="19050">
            <a:solidFill>
              <a:schemeClr val="accent3"/>
            </a:solidFill>
            <a:prstDash val="dash"/>
          </a:ln>
        </p:spPr>
      </p:sp>
      <p:sp>
        <p:nvSpPr>
          <p:cNvPr id="32" name="gate label"/>
          <p:cNvSpPr txBox="1"/>
          <p:nvPr/>
        </p:nvSpPr>
        <p:spPr>
          <a:xfrm>
            <a:off x="2697480" y="4370832"/>
            <a:ext cx="4572000" cy="274320"/>
          </a:xfrm>
          <a:prstGeom prst="rect">
            <a:avLst/>
          </a:prstGeom>
          <a:noFill/>
          <a:ln/>
        </p:spPr>
        <p:txBody>
          <a:bodyPr wrap="square" lIns="0" tIns="0" rIns="0" bIns="0" rtlCol="0" anchor="ctr"/>
          <a:lstStyle/>
          <a:p>
            <a:pPr algn="l" indent="0" marL="0">
              <a:buNone/>
            </a:pPr>
            <a:r>
              <a:rPr lang="en-US" sz="1000" b="1" dirty="0">
                <a:solidFill>
                  <a:schemeClr val="accent3"/>
                </a:solidFill>
              </a:rPr>
              <a:t>GATE (our wrapper around SimuHome's tool)</a:t>
            </a:r>
            <a:endParaRPr lang="en-US" sz="1000" dirty="0"/>
          </a:p>
        </p:txBody>
      </p:sp>
      <p:sp>
        <p:nvSpPr>
          <p:cNvPr id="33" name="check a"/>
          <p:cNvSpPr/>
          <p:nvPr/>
        </p:nvSpPr>
        <p:spPr>
          <a:xfrm>
            <a:off x="2743200" y="4681728"/>
            <a:ext cx="2057400" cy="1005840"/>
          </a:xfrm>
          <a:prstGeom prst="roundRect">
            <a:avLst>
              <a:gd name="adj" fmla="val 7273"/>
            </a:avLst>
          </a:prstGeom>
          <a:solidFill>
            <a:srgbClr val="E39B2D"/>
          </a:solidFill>
          <a:ln w="12700">
            <a:solidFill>
              <a:srgbClr val="E39B2D"/>
            </a:solidFill>
            <a:prstDash val="solid"/>
          </a:ln>
        </p:spPr>
      </p:sp>
      <p:sp>
        <p:nvSpPr>
          <p:cNvPr id="34" name="check a text"/>
          <p:cNvSpPr txBox="1"/>
          <p:nvPr/>
        </p:nvSpPr>
        <p:spPr>
          <a:xfrm>
            <a:off x="2798064" y="4681728"/>
            <a:ext cx="1947672" cy="1005840"/>
          </a:xfrm>
          <a:prstGeom prst="rect">
            <a:avLst/>
          </a:prstGeom>
          <a:noFill/>
          <a:ln/>
        </p:spPr>
        <p:txBody>
          <a:bodyPr wrap="square" lIns="25400" tIns="25400" rIns="25400" bIns="25400" rtlCol="0" anchor="ctr"/>
          <a:lstStyle/>
          <a:p>
            <a:pPr algn="ctr" indent="0" marL="0">
              <a:spcAft>
                <a:spcPts val="200"/>
              </a:spcAft>
              <a:buNone/>
            </a:pPr>
            <a:r>
              <a:rPr lang="en-US" sz="1300" b="1" dirty="0">
                <a:solidFill>
                  <a:schemeClr val="bg1"/>
                </a:solidFill>
              </a:rPr>
              <a:t>A  Request</a:t>
            </a:r>
            <a:endParaRPr lang="en-US" sz="1300" dirty="0"/>
          </a:p>
          <a:p>
            <a:pPr algn="ctr" indent="0" marL="0">
              <a:spcAft>
                <a:spcPts val="200"/>
              </a:spcAft>
              <a:buNone/>
            </a:pPr>
            <a:r>
              <a:rPr lang="en-US" sz="1050" dirty="0">
                <a:solidFill>
                  <a:schemeClr val="bg1"/>
                </a:solidFill>
              </a:rPr>
              <a:t>impossible? → "call finish"</a:t>
            </a:r>
            <a:endParaRPr lang="en-US" sz="1300" dirty="0"/>
          </a:p>
        </p:txBody>
      </p:sp>
      <p:sp>
        <p:nvSpPr>
          <p:cNvPr id="35" name="check b"/>
          <p:cNvSpPr/>
          <p:nvPr/>
        </p:nvSpPr>
        <p:spPr>
          <a:xfrm>
            <a:off x="5074920" y="4681728"/>
            <a:ext cx="2057400" cy="1005840"/>
          </a:xfrm>
          <a:prstGeom prst="roundRect">
            <a:avLst>
              <a:gd name="adj" fmla="val 7273"/>
            </a:avLst>
          </a:prstGeom>
          <a:solidFill>
            <a:srgbClr val="6D4C9F"/>
          </a:solidFill>
          <a:ln w="12700">
            <a:solidFill>
              <a:srgbClr val="6D4C9F"/>
            </a:solidFill>
            <a:prstDash val="solid"/>
          </a:ln>
        </p:spPr>
      </p:sp>
      <p:sp>
        <p:nvSpPr>
          <p:cNvPr id="36" name="check b text"/>
          <p:cNvSpPr txBox="1"/>
          <p:nvPr/>
        </p:nvSpPr>
        <p:spPr>
          <a:xfrm>
            <a:off x="5129784" y="4681728"/>
            <a:ext cx="1947672" cy="1005840"/>
          </a:xfrm>
          <a:prstGeom prst="rect">
            <a:avLst/>
          </a:prstGeom>
          <a:noFill/>
          <a:ln/>
        </p:spPr>
        <p:txBody>
          <a:bodyPr wrap="square" lIns="25400" tIns="25400" rIns="25400" bIns="25400" rtlCol="0" anchor="ctr"/>
          <a:lstStyle/>
          <a:p>
            <a:pPr algn="ctr" indent="0" marL="0">
              <a:spcAft>
                <a:spcPts val="200"/>
              </a:spcAft>
              <a:buNone/>
            </a:pPr>
            <a:r>
              <a:rPr lang="en-US" sz="1300" b="1" dirty="0">
                <a:solidFill>
                  <a:schemeClr val="bg1"/>
                </a:solidFill>
              </a:rPr>
              <a:t>B  Time</a:t>
            </a:r>
            <a:endParaRPr lang="en-US" sz="1300" dirty="0"/>
          </a:p>
          <a:p>
            <a:pPr algn="ctr" indent="0" marL="0">
              <a:spcAft>
                <a:spcPts val="200"/>
              </a:spcAft>
              <a:buNone/>
            </a:pPr>
            <a:r>
              <a:rPr lang="en-US" sz="1050" dirty="0">
                <a:solidFill>
                  <a:schemeClr val="bg1"/>
                </a:solidFill>
              </a:rPr>
              <a:t>too late, or clobbers an</a:t>
            </a:r>
            <a:endParaRPr lang="en-US" sz="1300" dirty="0"/>
          </a:p>
          <a:p>
            <a:pPr algn="ctr" indent="0" marL="0">
              <a:spcAft>
                <a:spcPts val="200"/>
              </a:spcAft>
              <a:buNone/>
            </a:pPr>
            <a:r>
              <a:rPr lang="en-US" sz="1050" dirty="0">
                <a:solidFill>
                  <a:schemeClr val="bg1"/>
                </a:solidFill>
              </a:rPr>
              <a:t>earlier goal? → window</a:t>
            </a:r>
            <a:endParaRPr lang="en-US" sz="1300" dirty="0"/>
          </a:p>
        </p:txBody>
      </p:sp>
      <p:sp>
        <p:nvSpPr>
          <p:cNvPr id="37" name="check c"/>
          <p:cNvSpPr/>
          <p:nvPr/>
        </p:nvSpPr>
        <p:spPr>
          <a:xfrm>
            <a:off x="7406640" y="4681728"/>
            <a:ext cx="2103120" cy="1005840"/>
          </a:xfrm>
          <a:prstGeom prst="roundRect">
            <a:avLst>
              <a:gd name="adj" fmla="val 7273"/>
            </a:avLst>
          </a:prstGeom>
          <a:solidFill>
            <a:srgbClr val="6D4C9F"/>
          </a:solidFill>
          <a:ln w="12700">
            <a:solidFill>
              <a:srgbClr val="6D4C9F"/>
            </a:solidFill>
            <a:prstDash val="solid"/>
          </a:ln>
        </p:spPr>
      </p:sp>
      <p:sp>
        <p:nvSpPr>
          <p:cNvPr id="38" name="check c text"/>
          <p:cNvSpPr txBox="1"/>
          <p:nvPr/>
        </p:nvSpPr>
        <p:spPr>
          <a:xfrm>
            <a:off x="7461504" y="4681728"/>
            <a:ext cx="1993392" cy="1005840"/>
          </a:xfrm>
          <a:prstGeom prst="rect">
            <a:avLst/>
          </a:prstGeom>
          <a:noFill/>
          <a:ln/>
        </p:spPr>
        <p:txBody>
          <a:bodyPr wrap="square" lIns="25400" tIns="25400" rIns="25400" bIns="25400" rtlCol="0" anchor="ctr"/>
          <a:lstStyle/>
          <a:p>
            <a:pPr algn="ctr" indent="0" marL="0">
              <a:spcAft>
                <a:spcPts val="200"/>
              </a:spcAft>
              <a:buNone/>
            </a:pPr>
            <a:r>
              <a:rPr lang="en-US" sz="1300" b="1" dirty="0">
                <a:solidFill>
                  <a:schemeClr val="bg1"/>
                </a:solidFill>
              </a:rPr>
              <a:t>C  Dry run on a copy</a:t>
            </a:r>
            <a:endParaRPr lang="en-US" sz="1300" dirty="0"/>
          </a:p>
          <a:p>
            <a:pPr algn="ctr" indent="0" marL="0">
              <a:spcAft>
                <a:spcPts val="200"/>
              </a:spcAft>
              <a:buNone/>
            </a:pPr>
            <a:r>
              <a:rPr lang="en-US" sz="1050" dirty="0">
                <a:solidFill>
                  <a:schemeClr val="bg1"/>
                </a:solidFill>
              </a:rPr>
              <a:t>command fails or does</a:t>
            </a:r>
            <a:endParaRPr lang="en-US" sz="1300" dirty="0"/>
          </a:p>
          <a:p>
            <a:pPr algn="ctr" indent="0" marL="0">
              <a:spcAft>
                <a:spcPts val="200"/>
              </a:spcAft>
              <a:buNone/>
            </a:pPr>
            <a:r>
              <a:rPr lang="en-US" sz="1050" dirty="0">
                <a:solidFill>
                  <a:schemeClr val="bg1"/>
                </a:solidFill>
              </a:rPr>
              <a:t>nothing? → error</a:t>
            </a:r>
            <a:endParaRPr lang="en-US" sz="1300" dirty="0"/>
          </a:p>
        </p:txBody>
      </p:sp>
      <p:sp>
        <p:nvSpPr>
          <p:cNvPr id="39" name="schedule"/>
          <p:cNvSpPr/>
          <p:nvPr/>
        </p:nvSpPr>
        <p:spPr>
          <a:xfrm>
            <a:off x="9921240" y="4572000"/>
            <a:ext cx="1600200" cy="1051560"/>
          </a:xfrm>
          <a:prstGeom prst="roundRect">
            <a:avLst>
              <a:gd name="adj" fmla="val 6957"/>
            </a:avLst>
          </a:prstGeom>
          <a:solidFill>
            <a:srgbClr val="2E8B57"/>
          </a:solidFill>
          <a:ln w="12700">
            <a:solidFill>
              <a:srgbClr val="2E8B57"/>
            </a:solidFill>
            <a:prstDash val="solid"/>
          </a:ln>
        </p:spPr>
      </p:sp>
      <p:sp>
        <p:nvSpPr>
          <p:cNvPr id="40" name="schedule text"/>
          <p:cNvSpPr txBox="1"/>
          <p:nvPr/>
        </p:nvSpPr>
        <p:spPr>
          <a:xfrm>
            <a:off x="9976104" y="4572000"/>
            <a:ext cx="1490472" cy="1051560"/>
          </a:xfrm>
          <a:prstGeom prst="rect">
            <a:avLst/>
          </a:prstGeom>
          <a:noFill/>
          <a:ln/>
        </p:spPr>
        <p:txBody>
          <a:bodyPr wrap="square" lIns="25400" tIns="25400" rIns="25400" bIns="25400" rtlCol="0" anchor="ctr"/>
          <a:lstStyle/>
          <a:p>
            <a:pPr algn="ctr" indent="0" marL="0">
              <a:spcAft>
                <a:spcPts val="200"/>
              </a:spcAft>
              <a:buNone/>
            </a:pPr>
            <a:r>
              <a:rPr lang="en-US" sz="1400" b="1" dirty="0">
                <a:solidFill>
                  <a:schemeClr val="bg1"/>
                </a:solidFill>
              </a:rPr>
              <a:t>Schedule</a:t>
            </a:r>
            <a:endParaRPr lang="en-US" sz="1400" dirty="0"/>
          </a:p>
          <a:p>
            <a:pPr algn="ctr" indent="0" marL="0">
              <a:spcAft>
                <a:spcPts val="200"/>
              </a:spcAft>
              <a:buNone/>
            </a:pPr>
            <a:r>
              <a:rPr lang="en-US" sz="1100" dirty="0">
                <a:solidFill>
                  <a:schemeClr val="bg1"/>
                </a:solidFill>
              </a:rPr>
              <a:t>SimuHome's</a:t>
            </a:r>
            <a:endParaRPr lang="en-US" sz="1400" dirty="0"/>
          </a:p>
          <a:p>
            <a:pPr algn="ctr" indent="0" marL="0">
              <a:spcAft>
                <a:spcPts val="200"/>
              </a:spcAft>
              <a:buNone/>
            </a:pPr>
            <a:r>
              <a:rPr lang="en-US" sz="1100" dirty="0">
                <a:solidFill>
                  <a:schemeClr val="bg1"/>
                </a:solidFill>
              </a:rPr>
              <a:t>real tool</a:t>
            </a:r>
            <a:endParaRPr lang="en-US" sz="1400" dirty="0"/>
          </a:p>
        </p:txBody>
      </p:sp>
      <p:sp>
        <p:nvSpPr>
          <p:cNvPr id="41" name="b1"/>
          <p:cNvSpPr/>
          <p:nvPr/>
        </p:nvSpPr>
        <p:spPr>
          <a:xfrm>
            <a:off x="2286000" y="5093208"/>
            <a:ext cx="457200" cy="91440"/>
          </a:xfrm>
          <a:prstGeom prst="line">
            <a:avLst/>
          </a:prstGeom>
          <a:noFill/>
          <a:ln w="25400">
            <a:solidFill>
              <a:srgbClr val="7B8794"/>
            </a:solidFill>
            <a:prstDash val="solid"/>
            <a:tailEnd type="triangle"/>
          </a:ln>
        </p:spPr>
      </p:sp>
      <p:sp>
        <p:nvSpPr>
          <p:cNvPr id="42" name="b2"/>
          <p:cNvSpPr/>
          <p:nvPr/>
        </p:nvSpPr>
        <p:spPr>
          <a:xfrm>
            <a:off x="4800600" y="5184648"/>
            <a:ext cx="274320" cy="914"/>
          </a:xfrm>
          <a:prstGeom prst="line">
            <a:avLst/>
          </a:prstGeom>
          <a:noFill/>
          <a:ln w="25400">
            <a:solidFill>
              <a:srgbClr val="2E8B57"/>
            </a:solidFill>
            <a:prstDash val="solid"/>
            <a:tailEnd type="triangle"/>
          </a:ln>
        </p:spPr>
      </p:sp>
      <p:sp>
        <p:nvSpPr>
          <p:cNvPr id="43" name="b3"/>
          <p:cNvSpPr/>
          <p:nvPr/>
        </p:nvSpPr>
        <p:spPr>
          <a:xfrm>
            <a:off x="7132320" y="5184648"/>
            <a:ext cx="274320" cy="914"/>
          </a:xfrm>
          <a:prstGeom prst="line">
            <a:avLst/>
          </a:prstGeom>
          <a:noFill/>
          <a:ln w="25400">
            <a:solidFill>
              <a:srgbClr val="2E8B57"/>
            </a:solidFill>
            <a:prstDash val="solid"/>
            <a:tailEnd type="triangle"/>
          </a:ln>
        </p:spPr>
      </p:sp>
      <p:sp>
        <p:nvSpPr>
          <p:cNvPr id="44" name="b4"/>
          <p:cNvSpPr/>
          <p:nvPr/>
        </p:nvSpPr>
        <p:spPr>
          <a:xfrm flipV="1">
            <a:off x="9509760" y="5093208"/>
            <a:ext cx="411480" cy="91440"/>
          </a:xfrm>
          <a:prstGeom prst="line">
            <a:avLst/>
          </a:prstGeom>
          <a:noFill/>
          <a:ln w="25400">
            <a:solidFill>
              <a:srgbClr val="2E8B57"/>
            </a:solidFill>
            <a:prstDash val="solid"/>
            <a:tailEnd type="triangle"/>
          </a:ln>
        </p:spPr>
      </p:sp>
      <p:sp>
        <p:nvSpPr>
          <p:cNvPr id="45" name="back line"/>
          <p:cNvSpPr/>
          <p:nvPr/>
        </p:nvSpPr>
        <p:spPr>
          <a:xfrm>
            <a:off x="1463040" y="6199632"/>
            <a:ext cx="6995160" cy="914"/>
          </a:xfrm>
          <a:prstGeom prst="line">
            <a:avLst/>
          </a:prstGeom>
          <a:noFill/>
          <a:ln w="25400">
            <a:solidFill>
              <a:srgbClr val="C0392B"/>
            </a:solidFill>
            <a:prstDash val="dash"/>
          </a:ln>
        </p:spPr>
      </p:sp>
      <p:sp>
        <p:nvSpPr>
          <p:cNvPr id="46" name="back up"/>
          <p:cNvSpPr/>
          <p:nvPr/>
        </p:nvSpPr>
        <p:spPr>
          <a:xfrm flipV="1">
            <a:off x="1463040" y="5623560"/>
            <a:ext cx="914" cy="576072"/>
          </a:xfrm>
          <a:prstGeom prst="line">
            <a:avLst/>
          </a:prstGeom>
          <a:noFill/>
          <a:ln w="25400">
            <a:solidFill>
              <a:srgbClr val="C0392B"/>
            </a:solidFill>
            <a:prstDash val="dash"/>
            <a:tailEnd type="triangle"/>
          </a:ln>
        </p:spPr>
      </p:sp>
      <p:sp>
        <p:nvSpPr>
          <p:cNvPr id="47" name="back from checks"/>
          <p:cNvSpPr/>
          <p:nvPr/>
        </p:nvSpPr>
        <p:spPr>
          <a:xfrm>
            <a:off x="8458200" y="5687568"/>
            <a:ext cx="914" cy="512064"/>
          </a:xfrm>
          <a:prstGeom prst="line">
            <a:avLst/>
          </a:prstGeom>
          <a:noFill/>
          <a:ln w="25400">
            <a:solidFill>
              <a:srgbClr val="C0392B"/>
            </a:solidFill>
            <a:prstDash val="dash"/>
          </a:ln>
        </p:spPr>
      </p:sp>
      <p:sp>
        <p:nvSpPr>
          <p:cNvPr id="48" name="back label"/>
          <p:cNvSpPr txBox="1"/>
          <p:nvPr/>
        </p:nvSpPr>
        <p:spPr>
          <a:xfrm>
            <a:off x="1600200" y="5888736"/>
            <a:ext cx="6583680" cy="274320"/>
          </a:xfrm>
          <a:prstGeom prst="rect">
            <a:avLst/>
          </a:prstGeom>
          <a:noFill/>
          <a:ln/>
        </p:spPr>
        <p:txBody>
          <a:bodyPr wrap="square" lIns="0" tIns="0" rIns="0" bIns="0" rtlCol="0" anchor="ctr"/>
          <a:lstStyle/>
          <a:p>
            <a:pPr algn="l" indent="0" marL="0">
              <a:buNone/>
            </a:pPr>
            <a:r>
              <a:rPr lang="en-US" sz="1050" i="1" dirty="0">
                <a:solidFill>
                  <a:schemeClr val="accent4"/>
                </a:solidFill>
              </a:rPr>
              <a:t>refused → back to the agent with how to fix it (max 2 per kind, then let through)</a:t>
            </a:r>
            <a:endParaRPr lang="en-US" sz="10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Results: contradictions solved; possible requests not yet</a:t>
            </a:r>
            <a:endParaRPr lang="en-US" sz="3000" dirty="0"/>
          </a:p>
        </p:txBody>
      </p:sp>
      <p:sp>
        <p:nvSpPr>
          <p:cNvPr id="3" name="Text 0"/>
          <p:cNvSpPr/>
          <p:nvPr>
            <p:ph idx="101" type="body" hasCustomPrompt="1"/>
          </p:nvPr>
        </p:nvSpPr>
        <p:spPr>
          <a:xfrm>
            <a:off x="457200" y="932688"/>
            <a:ext cx="11247120" cy="384048"/>
          </a:xfrm>
          <a:prstGeom prst="rect">
            <a:avLst/>
          </a:prstGeom>
          <a:noFill/>
          <a:ln/>
        </p:spPr>
        <p:txBody>
          <a:bodyPr wrap="square" lIns="0" tIns="0" rIns="0" bIns="0" rtlCol="0" anchor="t"/>
          <a:lstStyle/>
          <a:p>
            <a:pPr indent="0" marL="0">
              <a:buNone/>
            </a:pPr>
            <a:r>
              <a:rPr lang="en-US" sz="1500" dirty="0">
                <a:solidFill>
                  <a:schemeClr val="accent6"/>
                </a:solidFill>
                <a:latin typeface="Calibri" pitchFamily="34" charset="0"/>
                <a:ea typeface="Calibri" pitchFamily="34" charset="-122"/>
                <a:cs typeface="Calibri" pitchFamily="34" charset="-120"/>
              </a:rPr>
              <a:t>Agent and judge: Gemma-4-31B (NVIDIA API) · held-out test episodes, 8-10 per group · gate v2.1 run, Oct 2026</a:t>
            </a:r>
            <a:endParaRPr lang="en-US" sz="1500" dirty="0"/>
          </a:p>
        </p:txBody>
      </p:sp>
      <p:graphicFrame>
        <p:nvGraphicFramePr>
          <p:cNvPr id="4" name="chart impossible" descr=""/>
          <p:cNvGraphicFramePr/>
          <p:nvPr/>
        </p:nvGraphicFramePr>
        <p:xfrm>
          <a:off x="457200" y="1463040"/>
          <a:ext cx="5943600" cy="3429000"/>
        </p:xfrm>
        <a:graphic xmlns:a="http://schemas.openxmlformats.org/drawingml/2006/main">
          <a:graphicData uri="http://schemas.openxmlformats.org/drawingml/2006/chart">
            <c:chart xmlns:c="http://schemas.openxmlformats.org/drawingml/2006/chart" r:id="rId1"/>
          </a:graphicData>
        </a:graphic>
      </p:graphicFrame>
      <p:sp>
        <p:nvSpPr>
          <p:cNvPr id="5" name="possible title"/>
          <p:cNvSpPr txBox="1"/>
          <p:nvPr/>
        </p:nvSpPr>
        <p:spPr>
          <a:xfrm>
            <a:off x="6629400" y="1463040"/>
            <a:ext cx="5120640" cy="365760"/>
          </a:xfrm>
          <a:prstGeom prst="rect">
            <a:avLst/>
          </a:prstGeom>
          <a:noFill/>
          <a:ln/>
        </p:spPr>
        <p:txBody>
          <a:bodyPr wrap="square" lIns="0" tIns="0" rIns="0" bIns="0" rtlCol="0" anchor="ctr"/>
          <a:lstStyle/>
          <a:p>
            <a:pPr algn="ctr" indent="0" marL="0">
              <a:buNone/>
            </a:pPr>
            <a:r>
              <a:rPr lang="en-US" sz="1400" b="1" dirty="0">
                <a:solidFill>
                  <a:schemeClr val="tx2"/>
                </a:solidFill>
              </a:rPr>
              <a:t>Possible requests: done correctly</a:t>
            </a:r>
            <a:endParaRPr lang="en-US" sz="1400" dirty="0"/>
          </a:p>
        </p:txBody>
      </p:sp>
      <p:graphicFrame>
        <p:nvGraphicFramePr>
          <p:cNvPr id="3" name="possible table"/>
          <p:cNvGraphicFramePr>
            <a:graphicFrameLocks noGrp="1"/>
          </p:cNvGraphicFramePr>
          <p:nvPr>
            <p:extLst>
              <p:ext uri="{D42A27DB-BD31-4B8C-83A1-F6EECF244321}">
                <p14:modId xmlns:p14="http://schemas.microsoft.com/office/powerpoint/2010/main" val="1579011935"/>
              </p:ext>
            </p:extLst>
          </p:nvPr>
        </p:nvGraphicFramePr>
        <p:xfrm>
          <a:off x="6629400" y="1874520"/>
          <a:ext cx="5120640" cy="914400"/>
        </p:xfrm>
        <a:graphic>
          <a:graphicData uri="http://schemas.openxmlformats.org/drawingml/2006/table">
            <a:tbl>
              <a:tblPr/>
              <a:tblGrid>
                <a:gridCol w="1691640"/>
                <a:gridCol w="1143000"/>
                <a:gridCol w="1143000"/>
                <a:gridCol w="1143000"/>
              </a:tblGrid>
              <a:tr h="365760">
                <a:tc>
                  <a:txBody>
                    <a:bodyPr/>
                    <a:lstStyle/>
                    <a:p>
                      <a:pPr algn="ctr" indent="0" marL="0">
                        <a:buNone/>
                      </a:pP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QT4-1</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QT4-2</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QT4-3</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tx2"/>
                    </a:solidFill>
                  </a:tcPr>
                </a:tc>
              </a:tr>
              <a:tr h="36576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Agent alone</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2/10</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5/8</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r h="36576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Prompt self-check</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r h="36576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Gate full v2.0</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5/10</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r h="36576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Gate full v2.1</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2/10</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i="1" dirty="0">
                          <a:solidFill>
                            <a:schemeClr val="accent6"/>
                          </a:solidFill>
                          <a:latin typeface="Calibri" pitchFamily="34" charset="0"/>
                          <a:ea typeface="Calibri" pitchFamily="34" charset="-122"/>
                          <a:cs typeface="Calibri" pitchFamily="34" charset="-120"/>
                        </a:rPr>
                        <a:t>not run</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algn="ctr" indent="0" marL="0">
                        <a:buNone/>
                      </a:pPr>
                      <a:r>
                        <a:rPr lang="en-US" sz="1200" i="1" dirty="0">
                          <a:solidFill>
                            <a:schemeClr val="accent6"/>
                          </a:solidFill>
                          <a:latin typeface="Calibri" pitchFamily="34" charset="0"/>
                          <a:ea typeface="Calibri" pitchFamily="34" charset="-122"/>
                          <a:cs typeface="Calibri" pitchFamily="34" charset="-120"/>
                        </a:rPr>
                        <a:t>not run</a:t>
                      </a:r>
                      <a:endParaRPr lang="en-US" sz="1200" dirty="0">
                        <a:latin typeface="Calibri" charset="0"/>
                        <a:ea typeface="Calibri" charset="0"/>
                        <a:cs typeface="Calibri" charset="0"/>
                      </a:endParaRPr>
                    </a:p>
                  </a:txBody>
                  <a:tcPr marL="76200" marR="76200" marT="25400" marB="254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bl>
          </a:graphicData>
        </a:graphic>
      </p:graphicFrame>
      <p:sp>
        <p:nvSpPr>
          <p:cNvPr id="7" name="possible finding"/>
          <p:cNvSpPr txBox="1"/>
          <p:nvPr/>
        </p:nvSpPr>
        <p:spPr>
          <a:xfrm>
            <a:off x="6629400" y="3840480"/>
            <a:ext cx="5120640" cy="1051560"/>
          </a:xfrm>
          <a:prstGeom prst="rect">
            <a:avLst/>
          </a:prstGeom>
          <a:noFill/>
          <a:ln/>
        </p:spPr>
        <p:txBody>
          <a:bodyPr wrap="square" lIns="0" tIns="0" rIns="0" bIns="0" rtlCol="0" anchor="t"/>
          <a:lstStyle/>
          <a:p>
            <a:pPr algn="l" indent="0" marL="0">
              <a:buNone/>
            </a:pPr>
            <a:r>
              <a:rPr lang="en-US" sz="1100" b="1" dirty="0">
                <a:solidFill>
                  <a:schemeClr val="accent4"/>
                </a:solidFill>
              </a:rPr>
              <a:t>Why no gain yet: </a:t>
            </a:r>
            <a:pPr algn="l" indent="0" marL="0">
              <a:buNone/>
            </a:pPr>
            <a:r>
              <a:rPr lang="en-US" sz="1100" dirty="0">
                <a:solidFill>
                  <a:schemeClr val="tx1"/>
                </a:solidFill>
              </a:rPr>
              <a:t>SimuHome's clock runs in real time and the agent keeps the clock from the episode start. With a slow API (episodes take 6-13 min), QT4-3 pauses landed 1-5 min early in 8/8 cases and QT4-1 times expired before scheduling. Of 8 QT4-1 failures under the gate, only 1 was the gate's fault.</a:t>
            </a:r>
            <a:endParaRPr lang="en-US" sz="1100" dirty="0"/>
          </a:p>
        </p:txBody>
      </p:sp>
      <p:sp>
        <p:nvSpPr>
          <p:cNvPr id="8" name="impossible footnote"/>
          <p:cNvSpPr txBox="1"/>
          <p:nvPr/>
        </p:nvSpPr>
        <p:spPr>
          <a:xfrm>
            <a:off x="457200" y="4846320"/>
            <a:ext cx="5943600" cy="228600"/>
          </a:xfrm>
          <a:prstGeom prst="rect">
            <a:avLst/>
          </a:prstGeom>
          <a:noFill/>
          <a:ln/>
        </p:spPr>
        <p:txBody>
          <a:bodyPr wrap="square" lIns="0" tIns="0" rIns="0" bIns="0" rtlCol="0" anchor="ctr"/>
          <a:lstStyle/>
          <a:p>
            <a:pPr algn="l" indent="0" marL="0">
              <a:buNone/>
            </a:pPr>
            <a:r>
              <a:rPr lang="en-US" sz="950" i="1" dirty="0">
                <a:solidFill>
                  <a:schemeClr val="accent6"/>
                </a:solidFill>
              </a:rPr>
              <a:t>* QT4-3: 5 of 9 impossible episodes are device run-time conflicts, out of scope by design (max 4/9).</a:t>
            </a:r>
            <a:endParaRPr lang="en-US" sz="950" dirty="0"/>
          </a:p>
        </p:txBody>
      </p:sp>
      <p:sp>
        <p:nvSpPr>
          <p:cNvPr id="9" name="stat card 1"/>
          <p:cNvSpPr/>
          <p:nvPr/>
        </p:nvSpPr>
        <p:spPr>
          <a:xfrm>
            <a:off x="457200" y="5074920"/>
            <a:ext cx="3611880" cy="1188720"/>
          </a:xfrm>
          <a:prstGeom prst="roundRect">
            <a:avLst>
              <a:gd name="adj" fmla="val 6154"/>
            </a:avLst>
          </a:prstGeom>
          <a:solidFill>
            <a:schemeClr val="bg2"/>
          </a:solidFill>
          <a:ln w="12700">
            <a:solidFill>
              <a:schemeClr val="bg2"/>
            </a:solidFill>
            <a:prstDash val="solid"/>
          </a:ln>
        </p:spPr>
      </p:sp>
      <p:sp>
        <p:nvSpPr>
          <p:cNvPr id="10" name="stat big 1"/>
          <p:cNvSpPr txBox="1"/>
          <p:nvPr/>
        </p:nvSpPr>
        <p:spPr>
          <a:xfrm>
            <a:off x="640080" y="5148072"/>
            <a:ext cx="1463040" cy="1005840"/>
          </a:xfrm>
          <a:prstGeom prst="rect">
            <a:avLst/>
          </a:prstGeom>
          <a:noFill/>
          <a:ln/>
        </p:spPr>
        <p:txBody>
          <a:bodyPr wrap="square" lIns="0" tIns="0" rIns="0" bIns="0" rtlCol="0" anchor="ctr"/>
          <a:lstStyle/>
          <a:p>
            <a:pPr algn="l" indent="0" marL="0">
              <a:buNone/>
            </a:pPr>
            <a:r>
              <a:rPr lang="en-US" sz="3400" b="1" dirty="0">
                <a:solidFill>
                  <a:schemeClr val="accent1"/>
                </a:solidFill>
              </a:rPr>
              <a:t>0</a:t>
            </a:r>
            <a:endParaRPr lang="en-US" sz="3400" dirty="0"/>
          </a:p>
        </p:txBody>
      </p:sp>
      <p:sp>
        <p:nvSpPr>
          <p:cNvPr id="11" name="stat small 1"/>
          <p:cNvSpPr txBox="1"/>
          <p:nvPr/>
        </p:nvSpPr>
        <p:spPr>
          <a:xfrm>
            <a:off x="2148840" y="5148072"/>
            <a:ext cx="1783080" cy="1042416"/>
          </a:xfrm>
          <a:prstGeom prst="rect">
            <a:avLst/>
          </a:prstGeom>
          <a:noFill/>
          <a:ln/>
        </p:spPr>
        <p:txBody>
          <a:bodyPr wrap="square" lIns="0" tIns="0" rIns="0" bIns="0" rtlCol="0" anchor="ctr"/>
          <a:lstStyle/>
          <a:p>
            <a:pPr algn="l" indent="0" marL="0">
              <a:buNone/>
            </a:pPr>
            <a:r>
              <a:rPr lang="en-US" sz="1100" dirty="0">
                <a:solidFill>
                  <a:schemeClr val="tx1"/>
                </a:solidFill>
              </a:rPr>
              <a:t>large-model calls on contradictory requests in answer mode (18/18 correct, v2.1)</a:t>
            </a:r>
            <a:endParaRPr lang="en-US" sz="1100" dirty="0"/>
          </a:p>
        </p:txBody>
      </p:sp>
      <p:sp>
        <p:nvSpPr>
          <p:cNvPr id="12" name="stat card 2"/>
          <p:cNvSpPr/>
          <p:nvPr/>
        </p:nvSpPr>
        <p:spPr>
          <a:xfrm>
            <a:off x="4251960" y="5074920"/>
            <a:ext cx="3611880" cy="1188720"/>
          </a:xfrm>
          <a:prstGeom prst="roundRect">
            <a:avLst>
              <a:gd name="adj" fmla="val 6154"/>
            </a:avLst>
          </a:prstGeom>
          <a:solidFill>
            <a:schemeClr val="bg2"/>
          </a:solidFill>
          <a:ln w="12700">
            <a:solidFill>
              <a:schemeClr val="bg2"/>
            </a:solidFill>
            <a:prstDash val="solid"/>
          </a:ln>
        </p:spPr>
      </p:sp>
      <p:sp>
        <p:nvSpPr>
          <p:cNvPr id="13" name="stat big 2"/>
          <p:cNvSpPr txBox="1"/>
          <p:nvPr/>
        </p:nvSpPr>
        <p:spPr>
          <a:xfrm>
            <a:off x="4434840" y="5148072"/>
            <a:ext cx="1463040" cy="1005840"/>
          </a:xfrm>
          <a:prstGeom prst="rect">
            <a:avLst/>
          </a:prstGeom>
          <a:noFill/>
          <a:ln/>
        </p:spPr>
        <p:txBody>
          <a:bodyPr wrap="square" lIns="0" tIns="0" rIns="0" bIns="0" rtlCol="0" anchor="ctr"/>
          <a:lstStyle/>
          <a:p>
            <a:pPr algn="l" indent="0" marL="0">
              <a:buNone/>
            </a:pPr>
            <a:r>
              <a:rPr lang="en-US" sz="2400" b="1" dirty="0">
                <a:solidFill>
                  <a:schemeClr val="accent1"/>
                </a:solidFill>
              </a:rPr>
              <a:t>1.0 vs 3.1</a:t>
            </a:r>
            <a:endParaRPr lang="en-US" sz="2400" dirty="0"/>
          </a:p>
        </p:txBody>
      </p:sp>
      <p:sp>
        <p:nvSpPr>
          <p:cNvPr id="14" name="stat small 2"/>
          <p:cNvSpPr txBox="1"/>
          <p:nvPr/>
        </p:nvSpPr>
        <p:spPr>
          <a:xfrm>
            <a:off x="5943600" y="5148072"/>
            <a:ext cx="1783080" cy="1042416"/>
          </a:xfrm>
          <a:prstGeom prst="rect">
            <a:avLst/>
          </a:prstGeom>
          <a:noFill/>
          <a:ln/>
        </p:spPr>
        <p:txBody>
          <a:bodyPr wrap="square" lIns="0" tIns="0" rIns="0" bIns="0" rtlCol="0" anchor="ctr"/>
          <a:lstStyle/>
          <a:p>
            <a:pPr algn="l" indent="0" marL="0">
              <a:buNone/>
            </a:pPr>
            <a:r>
              <a:rPr lang="en-US" sz="1100" dirty="0">
                <a:solidFill>
                  <a:schemeClr val="tx1"/>
                </a:solidFill>
              </a:rPr>
              <a:t>calls per QT4-1 contradiction: hint mode vs the agent alone</a:t>
            </a:r>
            <a:endParaRPr lang="en-US" sz="1100" dirty="0"/>
          </a:p>
        </p:txBody>
      </p:sp>
      <p:sp>
        <p:nvSpPr>
          <p:cNvPr id="15" name="stat card 3"/>
          <p:cNvSpPr/>
          <p:nvPr/>
        </p:nvSpPr>
        <p:spPr>
          <a:xfrm>
            <a:off x="8046720" y="5074920"/>
            <a:ext cx="3611880" cy="1188720"/>
          </a:xfrm>
          <a:prstGeom prst="roundRect">
            <a:avLst>
              <a:gd name="adj" fmla="val 6154"/>
            </a:avLst>
          </a:prstGeom>
          <a:solidFill>
            <a:schemeClr val="bg2"/>
          </a:solidFill>
          <a:ln w="12700">
            <a:solidFill>
              <a:schemeClr val="bg2"/>
            </a:solidFill>
            <a:prstDash val="solid"/>
          </a:ln>
        </p:spPr>
      </p:sp>
      <p:sp>
        <p:nvSpPr>
          <p:cNvPr id="16" name="stat big 3"/>
          <p:cNvSpPr txBox="1"/>
          <p:nvPr/>
        </p:nvSpPr>
        <p:spPr>
          <a:xfrm>
            <a:off x="8229600" y="5148072"/>
            <a:ext cx="1463040" cy="1005840"/>
          </a:xfrm>
          <a:prstGeom prst="rect">
            <a:avLst/>
          </a:prstGeom>
          <a:noFill/>
          <a:ln/>
        </p:spPr>
        <p:txBody>
          <a:bodyPr wrap="square" lIns="0" tIns="0" rIns="0" bIns="0" rtlCol="0" anchor="ctr"/>
          <a:lstStyle/>
          <a:p>
            <a:pPr algn="l" indent="0" marL="0">
              <a:buNone/>
            </a:pPr>
            <a:r>
              <a:rPr lang="en-US" sz="2400" b="1" dirty="0">
                <a:solidFill>
                  <a:schemeClr val="accent1"/>
                </a:solidFill>
              </a:rPr>
              <a:t>1-5 min</a:t>
            </a:r>
            <a:endParaRPr lang="en-US" sz="2400" dirty="0"/>
          </a:p>
        </p:txBody>
      </p:sp>
      <p:sp>
        <p:nvSpPr>
          <p:cNvPr id="17" name="stat small 3"/>
          <p:cNvSpPr txBox="1"/>
          <p:nvPr/>
        </p:nvSpPr>
        <p:spPr>
          <a:xfrm>
            <a:off x="9738360" y="5148072"/>
            <a:ext cx="1783080" cy="1042416"/>
          </a:xfrm>
          <a:prstGeom prst="rect">
            <a:avLst/>
          </a:prstGeom>
          <a:noFill/>
          <a:ln/>
        </p:spPr>
        <p:txBody>
          <a:bodyPr wrap="square" lIns="0" tIns="0" rIns="0" bIns="0" rtlCol="0" anchor="ctr"/>
          <a:lstStyle/>
          <a:p>
            <a:pPr algn="l" indent="0" marL="0">
              <a:buNone/>
            </a:pPr>
            <a:r>
              <a:rPr lang="en-US" sz="1100" dirty="0">
                <a:solidFill>
                  <a:schemeClr val="tx1"/>
                </a:solidFill>
              </a:rPr>
              <a:t>how early agents paused in QT4-3: a stale-clock error the gate can catch (next fix)</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Why approach 2 is better than approach 1</a:t>
            </a:r>
            <a:endParaRPr lang="en-US" sz="3000" dirty="0"/>
          </a:p>
        </p:txBody>
      </p:sp>
      <p:sp>
        <p:nvSpPr>
          <p:cNvPr id="3" name="Text 0"/>
          <p:cNvSpPr/>
          <p:nvPr>
            <p:ph idx="101" type="body" hasCustomPrompt="1"/>
          </p:nvPr>
        </p:nvSpPr>
        <p:spPr>
          <a:xfrm>
            <a:off x="457200" y="932688"/>
            <a:ext cx="11247120" cy="384048"/>
          </a:xfrm>
          <a:prstGeom prst="rect">
            <a:avLst/>
          </a:prstGeom>
          <a:noFill/>
          <a:ln/>
        </p:spPr>
        <p:txBody>
          <a:bodyPr wrap="square" lIns="0" tIns="0" rIns="0" bIns="0" rtlCol="0" anchor="t"/>
          <a:lstStyle/>
          <a:p>
            <a:pPr indent="0" marL="0">
              <a:buNone/>
            </a:pPr>
            <a:r>
              <a:rPr lang="en-US" sz="1500" dirty="0">
                <a:solidFill>
                  <a:schemeClr val="accent6"/>
                </a:solidFill>
                <a:latin typeface="Calibri" pitchFamily="34" charset="0"/>
                <a:ea typeface="Calibri" pitchFamily="34" charset="-122"/>
                <a:cs typeface="Calibri" pitchFamily="34" charset="-120"/>
              </a:rPr>
              <a:t>Same small model idea, but it now checks earlier, checks the agent's actual plan, and explains its refusals</a:t>
            </a:r>
            <a:endParaRPr lang="en-US" sz="1500" dirty="0"/>
          </a:p>
        </p:txBody>
      </p:sp>
      <p:graphicFrame>
        <p:nvGraphicFramePr>
          <p:cNvPr id="4" name="comparison table"/>
          <p:cNvGraphicFramePr>
            <a:graphicFrameLocks noGrp="1"/>
          </p:cNvGraphicFramePr>
          <p:nvPr>
            <p:extLst>
              <p:ext uri="{D42A27DB-BD31-4B8C-83A1-F6EECF244321}">
                <p14:modId xmlns:p14="http://schemas.microsoft.com/office/powerpoint/2010/main" val="1579011935"/>
              </p:ext>
            </p:extLst>
          </p:nvPr>
        </p:nvGraphicFramePr>
        <p:xfrm>
          <a:off x="457200" y="1463040"/>
          <a:ext cx="7589520" cy="914400"/>
        </p:xfrm>
        <a:graphic>
          <a:graphicData uri="http://schemas.openxmlformats.org/drawingml/2006/table">
            <a:tbl>
              <a:tblPr/>
              <a:tblGrid>
                <a:gridCol w="2011680"/>
                <a:gridCol w="2651760"/>
                <a:gridCol w="2926080"/>
              </a:tblGrid>
              <a:tr h="566928">
                <a:tc>
                  <a:txBody>
                    <a:bodyPr/>
                    <a:lstStyle/>
                    <a:p>
                      <a:pPr indent="0" marL="0">
                        <a:buNone/>
                      </a:pPr>
                      <a:endParaRPr lang="en-US" sz="13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Approach 1</a:t>
                      </a:r>
                      <a:endParaRPr lang="en-US" sz="13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Approach 2</a:t>
                      </a:r>
                      <a:endParaRPr lang="en-US" sz="13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tx2"/>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When it checks</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inside every schedule_workflow call</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once, before the agent starts</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Contradictory request</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agent retries times that can never pass: 4.3 calls (QT4-1)</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 call (hint) or 0 calls (answer), 10/10</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What it checks</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only the request text</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the request AND the agent's time and commands</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Agent's mistakes</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wrong times and invented commands pass silently</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refused with the fix: correct window, SimuHome's error, 'would change nothing'</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Possible requests</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never checked: same as the agent alone (QT4-1: 2-3/10)</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plan checked; no gain yet (QT4-1: 5/10 v2.0, 2/10 v2.1; n = 10)</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Time per episode</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re-parses on every call: 377 s vs 218 s</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parsed once, from a cache (CPU only)</a:t>
                      </a:r>
                      <a:endParaRPr lang="en-US" sz="1200" dirty="0">
                        <a:latin typeface="Calibri" charset="0"/>
                        <a:ea typeface="Calibri" charset="0"/>
                        <a:cs typeface="Calibri" charset="0"/>
                      </a:endParaRPr>
                    </a:p>
                  </a:txBody>
                  <a:tcPr marL="76200" marR="76200" marT="38100" marB="38100" anchor="ctr">
                    <a:lnL w="9525" cap="flat" cmpd="sng" algn="ctr">
                      <a:solidFill>
                        <a:srgbClr val="D9E2E8"/>
                      </a:solidFill>
                      <a:prstDash val="solid"/>
                      <a:round/>
                      <a:headEnd type="none" w="med" len="med"/>
                      <a:tailEnd type="none" w="med" len="med"/>
                    </a:lnL>
                    <a:lnR w="9525" cap="flat" cmpd="sng" algn="ctr">
                      <a:solidFill>
                        <a:srgbClr val="D9E2E8"/>
                      </a:solidFill>
                      <a:prstDash val="solid"/>
                      <a:round/>
                      <a:headEnd type="none" w="med" len="med"/>
                      <a:tailEnd type="none" w="med" len="med"/>
                    </a:lnR>
                    <a:lnT w="9525" cap="flat" cmpd="sng" algn="ctr">
                      <a:solidFill>
                        <a:srgbClr val="D9E2E8"/>
                      </a:solidFill>
                      <a:prstDash val="solid"/>
                      <a:round/>
                      <a:headEnd type="none" w="med" len="med"/>
                      <a:tailEnd type="none" w="med" len="med"/>
                    </a:lnT>
                    <a:lnB w="9525" cap="flat" cmpd="sng" algn="ctr">
                      <a:solidFill>
                        <a:srgbClr val="D9E2E8"/>
                      </a:solidFill>
                      <a:prstDash val="solid"/>
                      <a:round/>
                      <a:headEnd type="none" w="med" len="med"/>
                      <a:tailEnd type="none" w="med" len="med"/>
                    </a:lnB>
                    <a:solidFill>
                      <a:schemeClr val="bg1"/>
                    </a:solidFill>
                  </a:tcPr>
                </a:tc>
              </a:tr>
            </a:tbl>
          </a:graphicData>
        </a:graphic>
      </p:graphicFrame>
      <p:sp>
        <p:nvSpPr>
          <p:cNvPr id="5" name="why card 1"/>
          <p:cNvSpPr/>
          <p:nvPr/>
        </p:nvSpPr>
        <p:spPr>
          <a:xfrm>
            <a:off x="8366760" y="1463040"/>
            <a:ext cx="3337560" cy="1417320"/>
          </a:xfrm>
          <a:prstGeom prst="roundRect">
            <a:avLst>
              <a:gd name="adj" fmla="val 5161"/>
            </a:avLst>
          </a:prstGeom>
          <a:solidFill>
            <a:schemeClr val="bg2"/>
          </a:solidFill>
          <a:ln w="12700">
            <a:solidFill>
              <a:schemeClr val="bg2"/>
            </a:solidFill>
            <a:prstDash val="solid"/>
          </a:ln>
        </p:spPr>
      </p:sp>
      <p:sp>
        <p:nvSpPr>
          <p:cNvPr id="6" name="why big 1"/>
          <p:cNvSpPr txBox="1"/>
          <p:nvPr/>
        </p:nvSpPr>
        <p:spPr>
          <a:xfrm>
            <a:off x="8549640" y="1572768"/>
            <a:ext cx="3017520" cy="594360"/>
          </a:xfrm>
          <a:prstGeom prst="rect">
            <a:avLst/>
          </a:prstGeom>
          <a:noFill/>
          <a:ln/>
        </p:spPr>
        <p:txBody>
          <a:bodyPr wrap="square" lIns="0" tIns="0" rIns="0" bIns="0" rtlCol="0" anchor="ctr"/>
          <a:lstStyle/>
          <a:p>
            <a:pPr algn="l" indent="0" marL="0">
              <a:buNone/>
            </a:pPr>
            <a:r>
              <a:rPr lang="en-US" sz="2600" b="1" dirty="0">
                <a:solidFill>
                  <a:schemeClr val="accent2"/>
                </a:solidFill>
              </a:rPr>
              <a:t>4.3 → 1 → 0</a:t>
            </a:r>
            <a:endParaRPr lang="en-US" sz="2600" dirty="0"/>
          </a:p>
        </p:txBody>
      </p:sp>
      <p:sp>
        <p:nvSpPr>
          <p:cNvPr id="7" name="why small 1"/>
          <p:cNvSpPr txBox="1"/>
          <p:nvPr/>
        </p:nvSpPr>
        <p:spPr>
          <a:xfrm>
            <a:off x="8549640" y="2194560"/>
            <a:ext cx="3017520" cy="566928"/>
          </a:xfrm>
          <a:prstGeom prst="rect">
            <a:avLst/>
          </a:prstGeom>
          <a:noFill/>
          <a:ln/>
        </p:spPr>
        <p:txBody>
          <a:bodyPr wrap="square" lIns="0" tIns="0" rIns="0" bIns="0" rtlCol="0" anchor="t"/>
          <a:lstStyle/>
          <a:p>
            <a:pPr algn="l" indent="0" marL="0">
              <a:buNone/>
            </a:pPr>
            <a:r>
              <a:rPr lang="en-US" sz="1200" dirty="0">
                <a:solidFill>
                  <a:schemeClr val="tx1"/>
                </a:solidFill>
              </a:rPr>
              <a:t>large-model calls per contradiction: approach 1 → hint → answer</a:t>
            </a:r>
            <a:endParaRPr lang="en-US" sz="1200" dirty="0"/>
          </a:p>
        </p:txBody>
      </p:sp>
      <p:sp>
        <p:nvSpPr>
          <p:cNvPr id="8" name="why card 2"/>
          <p:cNvSpPr/>
          <p:nvPr/>
        </p:nvSpPr>
        <p:spPr>
          <a:xfrm>
            <a:off x="8366760" y="3063240"/>
            <a:ext cx="3337560" cy="1417320"/>
          </a:xfrm>
          <a:prstGeom prst="roundRect">
            <a:avLst>
              <a:gd name="adj" fmla="val 5161"/>
            </a:avLst>
          </a:prstGeom>
          <a:solidFill>
            <a:schemeClr val="bg2"/>
          </a:solidFill>
          <a:ln w="12700">
            <a:solidFill>
              <a:schemeClr val="bg2"/>
            </a:solidFill>
            <a:prstDash val="solid"/>
          </a:ln>
        </p:spPr>
      </p:sp>
      <p:sp>
        <p:nvSpPr>
          <p:cNvPr id="9" name="why big 2"/>
          <p:cNvSpPr txBox="1"/>
          <p:nvPr/>
        </p:nvSpPr>
        <p:spPr>
          <a:xfrm>
            <a:off x="8549640" y="3172968"/>
            <a:ext cx="3017520" cy="594360"/>
          </a:xfrm>
          <a:prstGeom prst="rect">
            <a:avLst/>
          </a:prstGeom>
          <a:noFill/>
          <a:ln/>
        </p:spPr>
        <p:txBody>
          <a:bodyPr wrap="square" lIns="0" tIns="0" rIns="0" bIns="0" rtlCol="0" anchor="ctr"/>
          <a:lstStyle/>
          <a:p>
            <a:pPr algn="l" indent="0" marL="0">
              <a:buNone/>
            </a:pPr>
            <a:r>
              <a:rPr lang="en-US" sz="2600" b="1" dirty="0">
                <a:solidFill>
                  <a:schemeClr val="accent3"/>
                </a:solidFill>
              </a:rPr>
              <a:t>23 of 42</a:t>
            </a:r>
            <a:endParaRPr lang="en-US" sz="2600" dirty="0"/>
          </a:p>
        </p:txBody>
      </p:sp>
      <p:sp>
        <p:nvSpPr>
          <p:cNvPr id="10" name="why small 2"/>
          <p:cNvSpPr txBox="1"/>
          <p:nvPr/>
        </p:nvSpPr>
        <p:spPr>
          <a:xfrm>
            <a:off x="8549640" y="3794760"/>
            <a:ext cx="3017520" cy="566928"/>
          </a:xfrm>
          <a:prstGeom prst="rect">
            <a:avLst/>
          </a:prstGeom>
          <a:noFill/>
          <a:ln/>
        </p:spPr>
        <p:txBody>
          <a:bodyPr wrap="square" lIns="0" tIns="0" rIns="0" bIns="0" rtlCol="0" anchor="t"/>
          <a:lstStyle/>
          <a:p>
            <a:pPr algn="l" indent="0" marL="0">
              <a:buNone/>
            </a:pPr>
            <a:r>
              <a:rPr lang="en-US" sz="1200" dirty="0">
                <a:solidFill>
                  <a:schemeClr val="tx1"/>
                </a:solidFill>
              </a:rPr>
              <a:t>failed episodes in which v2.1 flags the agent's mistake</a:t>
            </a:r>
            <a:endParaRPr lang="en-US" sz="1200" dirty="0"/>
          </a:p>
        </p:txBody>
      </p:sp>
      <p:sp>
        <p:nvSpPr>
          <p:cNvPr id="11" name="why card 3"/>
          <p:cNvSpPr/>
          <p:nvPr/>
        </p:nvSpPr>
        <p:spPr>
          <a:xfrm>
            <a:off x="8366760" y="4663440"/>
            <a:ext cx="3337560" cy="1417320"/>
          </a:xfrm>
          <a:prstGeom prst="roundRect">
            <a:avLst>
              <a:gd name="adj" fmla="val 5161"/>
            </a:avLst>
          </a:prstGeom>
          <a:solidFill>
            <a:schemeClr val="bg2"/>
          </a:solidFill>
          <a:ln w="12700">
            <a:solidFill>
              <a:schemeClr val="bg2"/>
            </a:solidFill>
            <a:prstDash val="solid"/>
          </a:ln>
        </p:spPr>
      </p:sp>
      <p:sp>
        <p:nvSpPr>
          <p:cNvPr id="12" name="why big 3"/>
          <p:cNvSpPr txBox="1"/>
          <p:nvPr/>
        </p:nvSpPr>
        <p:spPr>
          <a:xfrm>
            <a:off x="8549640" y="4773168"/>
            <a:ext cx="3017520" cy="594360"/>
          </a:xfrm>
          <a:prstGeom prst="rect">
            <a:avLst/>
          </a:prstGeom>
          <a:noFill/>
          <a:ln/>
        </p:spPr>
        <p:txBody>
          <a:bodyPr wrap="square" lIns="0" tIns="0" rIns="0" bIns="0" rtlCol="0" anchor="ctr"/>
          <a:lstStyle/>
          <a:p>
            <a:pPr algn="l" indent="0" marL="0">
              <a:buNone/>
            </a:pPr>
            <a:r>
              <a:rPr lang="en-US" sz="3200" b="1" dirty="0">
                <a:solidFill>
                  <a:schemeClr val="accent5"/>
                </a:solidFill>
              </a:rPr>
              <a:t>0</a:t>
            </a:r>
            <a:endParaRPr lang="en-US" sz="3200" dirty="0"/>
          </a:p>
        </p:txBody>
      </p:sp>
      <p:sp>
        <p:nvSpPr>
          <p:cNvPr id="13" name="why small 3"/>
          <p:cNvSpPr txBox="1"/>
          <p:nvPr/>
        </p:nvSpPr>
        <p:spPr>
          <a:xfrm>
            <a:off x="8549640" y="5394960"/>
            <a:ext cx="3017520" cy="566928"/>
          </a:xfrm>
          <a:prstGeom prst="rect">
            <a:avLst/>
          </a:prstGeom>
          <a:noFill/>
          <a:ln/>
        </p:spPr>
        <p:txBody>
          <a:bodyPr wrap="square" lIns="0" tIns="0" rIns="0" bIns="0" rtlCol="0" anchor="t"/>
          <a:lstStyle/>
          <a:p>
            <a:pPr algn="l" indent="0" marL="0">
              <a:buNone/>
            </a:pPr>
            <a:r>
              <a:rPr lang="en-US" sz="1200" dirty="0">
                <a:solidFill>
                  <a:schemeClr val="tx1"/>
                </a:solidFill>
              </a:rPr>
              <a:t>correct schedules blocked when replaying 151 real calls</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Approach 2 Gate">
  <a:themeElements>
    <a:clrScheme name="Approach 2 Gate">
      <a:dk1>
        <a:srgbClr val="1F2933"/>
      </a:dk1>
      <a:lt1>
        <a:srgbClr val="FFFFFF"/>
      </a:lt1>
      <a:dk2>
        <a:srgbClr val="16384A"/>
      </a:dk2>
      <a:lt2>
        <a:srgbClr val="EEF3F6"/>
      </a:lt2>
      <a:accent1>
        <a:srgbClr val="1B998B"/>
      </a:accent1>
      <a:accent2>
        <a:srgbClr val="E39B2D"/>
      </a:accent2>
      <a:accent3>
        <a:srgbClr val="6D4C9F"/>
      </a:accent3>
      <a:accent4>
        <a:srgbClr val="C0392B"/>
      </a:accent4>
      <a:accent5>
        <a:srgbClr val="2E8B57"/>
      </a:accent5>
      <a:accent6>
        <a:srgbClr val="7B8794"/>
      </a:accent6>
      <a:hlink>
        <a:srgbClr val="1B998B"/>
      </a:hlink>
      <a:folHlink>
        <a:srgbClr val="6D4C9F"/>
      </a:folHlink>
    </a:clrScheme>
    <a:fontScheme name="Approach 2 G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Approach 2: pre-flight gate for LLM smart-home scheduling</dc:title>
  <dc:subject>PptxGenJS Presentation</dc:subject>
  <dc:creator>Soumava Das</dc:creator>
  <cp:lastModifiedBy>Soumava Das</cp:lastModifiedBy>
  <cp:revision>1</cp:revision>
  <dcterms:created xsi:type="dcterms:W3CDTF">2026-10-15T11:59:04Z</dcterms:created>
  <dcterms:modified xsi:type="dcterms:W3CDTF">2026-10-15T11:59:04Z</dcterms:modified>
</cp:coreProperties>
</file>