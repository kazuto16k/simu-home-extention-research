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B2A41"/>
                </a:solidFill>
                <a:latin typeface="+mn-lt"/>
              </a:defRPr>
            </a:pPr>
            <a:r>
              <a:rPr sz="1200" b="0" i="0" u="none" strike="noStrike">
                <a:solidFill>
                  <a:srgbClr val="1B2A41"/>
                </a:solidFill>
                <a:latin typeface="+mn-lt"/>
              </a:rPr>
              <a:t>Task accuracy, QT4-1 (10 episodes per bar)</a:t>
            </a:r>
          </a:p>
        </c:rich>
      </c:tx>
      <c:layout/>
      <c:overlay val="0"/>
    </c:title>
    <c:autoTitleDeleted val="0"/>
    <c:plotArea>
      <c:layout/>
      <c:barChart>
        <c:barDir val="col"/>
        <c:grouping val="clustered"/>
        <c:varyColors val="0"/>
        <c:ser>
          <c:idx val="0"/>
          <c:order val="0"/>
          <c:tx>
            <c:strRef>
              <c:f>Sheet1!$B$1</c:f>
              <c:strCache>
                <c:ptCount val="1"/>
                <c:pt idx="0">
                  <c:v>Agent alone</c:v>
                </c:pt>
              </c:strCache>
            </c:strRef>
          </c:tx>
          <c:spPr>
            <a:solidFill>
              <a:srgbClr val="8A94A6"/>
            </a:solidFill>
            <a:effectLst/>
          </c:spPr>
          <c:invertIfNegative val="0"/>
          <c:dLbls>
            <c:numFmt formatCode="0&quot;%&quot;" sourceLinked="0"/>
            <c:txPr>
              <a:bodyPr/>
              <a:lstStyle/>
              <a:p>
                <a:pPr>
                  <a:defRPr b="1" i="0" strike="noStrike" sz="1200" u="none">
                    <a:solidFill>
                      <a:srgbClr val="1B2A41"/>
                    </a:solidFill>
                    <a:latin typeface="+mn-lt"/>
                  </a:defRPr>
                </a:pPr>
              </a:p>
            </c:txPr>
            <c:showLegendKey val="0"/>
            <c:showVal val="1"/>
            <c:showCatName val="0"/>
            <c:showSerName val="0"/>
            <c:showPercent val="0"/>
            <c:showBubbleSize val="0"/>
            <c:showLeaderLines val="0"/>
          </c:dLbls>
          <c:cat>
            <c:multiLvlStrRef>
              <c:f>Sheet1!$A$2:$A$3</c:f>
              <c:multiLvlStrCache>
                <c:ptCount val="2"/>
                <c:lvl>
                  <c:pt idx="0">
                    <c:v>Infeasible requests</c:v>
                  </c:pt>
                  <c:pt idx="1">
                    <c:v>Feasible requests</c:v>
                  </c:pt>
                </c:lvl>
              </c:multiLvlStrCache>
            </c:multiLvlStrRef>
          </c:cat>
          <c:val>
            <c:numRef>
              <c:f>Sheet1!$B$2:$B$3</c:f>
              <c:numCache>
                <c:formatCode>General</c:formatCode>
                <c:ptCount val="2"/>
                <c:pt idx="0">
                  <c:v>30</c:v>
                </c:pt>
                <c:pt idx="1">
                  <c:v>20</c:v>
                </c:pt>
              </c:numCache>
            </c:numRef>
          </c:val>
        </c:ser>
        <c:ser>
          <c:idx val="1"/>
          <c:order val="1"/>
          <c:tx>
            <c:strRef>
              <c:f>Sheet1!$C$1</c:f>
              <c:strCache>
                <c:ptCount val="1"/>
                <c:pt idx="0">
                  <c:v>With verifier</c:v>
                </c:pt>
              </c:strCache>
            </c:strRef>
          </c:tx>
          <c:spPr>
            <a:solidFill>
              <a:srgbClr val="2A9D8F"/>
            </a:solidFill>
            <a:effectLst/>
          </c:spPr>
          <c:invertIfNegative val="0"/>
          <c:dLbls>
            <c:numFmt formatCode="0&quot;%&quot;" sourceLinked="0"/>
            <c:txPr>
              <a:bodyPr/>
              <a:lstStyle/>
              <a:p>
                <a:pPr>
                  <a:defRPr b="1" i="0" strike="noStrike" sz="1200" u="none">
                    <a:solidFill>
                      <a:srgbClr val="1B2A41"/>
                    </a:solidFill>
                    <a:latin typeface="+mn-lt"/>
                  </a:defRPr>
                </a:pPr>
              </a:p>
            </c:txPr>
            <c:showLegendKey val="0"/>
            <c:showVal val="1"/>
            <c:showCatName val="0"/>
            <c:showSerName val="0"/>
            <c:showPercent val="0"/>
            <c:showBubbleSize val="0"/>
            <c:showLeaderLines val="0"/>
          </c:dLbls>
          <c:cat>
            <c:multiLvlStrRef>
              <c:f>Sheet1!$A$2:$A$3</c:f>
              <c:multiLvlStrCache>
                <c:ptCount val="2"/>
                <c:lvl>
                  <c:pt idx="0">
                    <c:v>Infeasible requests</c:v>
                  </c:pt>
                  <c:pt idx="1">
                    <c:v>Feasible requests</c:v>
                  </c:pt>
                </c:lvl>
              </c:multiLvlStrCache>
            </c:multiLvlStrRef>
          </c:cat>
          <c:val>
            <c:numRef>
              <c:f>Sheet1!$C$2:$C$3</c:f>
              <c:numCache>
                <c:formatCode>General</c:formatCode>
                <c:ptCount val="2"/>
                <c:pt idx="0">
                  <c:v>100</c:v>
                </c:pt>
                <c:pt idx="1">
                  <c:v>20</c:v>
                </c:pt>
              </c:numCache>
            </c:numRef>
          </c:val>
        </c:ser>
        <c:dLbls>
          <c:numFmt formatCode="0&quot;%&quot;" sourceLinked="0"/>
          <c:txPr>
            <a:bodyPr/>
            <a:lstStyle/>
            <a:p>
              <a:pPr>
                <a:defRPr b="1" i="0" strike="noStrike" sz="1200" u="none">
                  <a:solidFill>
                    <a:srgbClr val="1B2A41"/>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41"/>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B2A41"/>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LLM agents controlling a smart home are bad at scheduling requests, and the main failure is that they do not notice when a request contradicts itself. SimuHome (ICLR 2026) reports this as 'contradiction blindness' (85% of GPT-4.1's errors on infeasible scheduling, their Figure 4d). Gap: the scheduling tool only returns 'registered', and SimuHome's default prompt already tells the agent to stop on contradictions, yet GPT-4.1 still misses most of them. Their suggested remedy, simulation-based pre-validation, is future work and heavy. Our idea: a small trained parser plus a Z3 consistency check placed in front of the tool; the large agent is not retrained.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what the SimuHome authors measured. They evaluated 18 agents on 600 episodes; scheduling (QT4) is the hardest. In infeasible QT4 the dominant error is contradiction blindness (Fig. 4d: 85% for GPT-4.1; Table 11: 40/44, 25/33 and 30/34 errors for QT4-1/2/3). In section 5.3 they note the tool only confirms registration. The default agent prompt already says to stop and tell the user about contradictions between relative and absolute times, yet the failure persists. In section 5.4 and Appendix M, a self-review experiment (the agent inspects and cancels its scheduled workflow after the fact) recovered at most 18.5% of QT4-2 and 0% of QT4-3 feasible-task failures; that is a different problem from checking for contradictions before scheduling. Appendix L proposes simulation-based pre-validation as future work. Right: what we reuse. We keep SimuHome's simulator, episodes, ReAct agent and scorers unchanged and add a gate in front of schedule_workflow. The labels for training the parser come from the benchmark's own eval.goals and temporal_conflict fields. The idea of putting an SMT solver in front of tool calls comes from Agent-C (per our project handoff notes; its logic covers call order, we extend it to real-valued time). Tools: Z3, Qwen3-1.7B with LoRA, and Gemma-31B as the agent via NVIDIA's hosted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is SimuHome as it ships: the user request goes to the agent, which calls schedule_workflow, which accepts anything and talks to the simulator. The dashed box is our contribution. We replace the schedule_workflow tool in the tool registry with a wrapper (monkeypatch, no change to SimuHome's source). Every call to it first goes through four steps: parse the original request with the small model, resolve anchors against the simulator, check consistency with Z3, and verbalize any conflict. If the request is consistent, the original tool is called unchanged. If not, the agent receives a 409 TEMPORAL_CONTRADICTION result with the reason and can re-plan or tell the user.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steps on the left, then the example on the right, which is a real request from our run (the log line from the verifier). Step 1: the fine-tuned Qwen3-1.7B writes a compact JSON representation of the request. Step 2: references like 'now' or 'when the dishwasher finishes' are resolved to numbers by querying the simulator. Step 3: each goal becomes one real-valued variable in Z3, and every stated time becomes a constraint within a small tolerance; if two readings cannot both hold, Z3 returns UNSAT and the unsat core tells us which readings clash. Step 4: the agent gets either its tool result unchanged or a 409 with the reason. Design properties worth saying aloud: the big agent is never retrained, the gate fails open if the parser fails, and the explanation is specific. Honest note if asked: for this sub-type the check is simple arithmetic, and the solver matters more once constraints get richer (durations, chains, concurrency).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on infeasible QT4-1 requests the agent alone scored 3 of 10 and with the verifier 10 of 10; on feasible requests it was 2 of 10 both ways, and the verifier let all 28 valid scheduling calls through (0 false rejections). The parser reads held-out requests with 91% verdict accuracy (42 of 46) and 54 of 54 valid JSON. The Z3 encoder is correct on all 286 benchmark ground-truth cases (14 duration-model cases are out of scope). Be upfront that this is preliminary: 10 episodes per cell, one sub-type, one agent model. The low feasible score comes from the agent inventing device commands, not from timing, so it is outside what this verifier addresses. For context, SimuHome reports a strong reasoning model (GPT-5.1) already at 100% on QT4-1 infeasible, so the case for the verifier rests on cheaper agents, latency, and harder sub-types such as QT4-3. Next steps: the prompt-only self-check comparison, QT4-2 and QT4-3, harder constraints so that a solver is genuinely needed, and robustness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B2A41"/>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28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457200" y="365760"/>
            <a:ext cx="8229600" cy="274320"/>
          </a:xfrm>
          <a:prstGeom prst="rect">
            <a:avLst/>
          </a:prstGeom>
          <a:noFill/>
          <a:ln/>
        </p:spPr>
        <p:txBody>
          <a:bodyPr wrap="square" lIns="0" tIns="0" rIns="0" bIns="0" rtlCol="0" anchor="t"/>
          <a:lstStyle/>
          <a:p>
            <a:pPr indent="0" marL="0">
              <a:buNone/>
            </a:pPr>
            <a:r>
              <a:rPr lang="en-US" sz="1200" b="1" dirty="0">
                <a:solidFill>
                  <a:srgbClr val="E9A23B"/>
                </a:solidFill>
                <a:latin typeface="Calibri" pitchFamily="34" charset="0"/>
                <a:ea typeface="Calibri" pitchFamily="34" charset="-122"/>
                <a:cs typeface="Calibri" pitchFamily="34" charset="-120"/>
              </a:rPr>
              <a:t>MTech research project  |  IEEE IoT-J special issue</a:t>
            </a:r>
            <a:endParaRPr lang="en-US" sz="1200" dirty="0"/>
          </a:p>
        </p:txBody>
      </p:sp>
      <p:sp>
        <p:nvSpPr>
          <p:cNvPr id="3" name="Title"/>
          <p:cNvSpPr txBox="1"/>
          <p:nvPr/>
        </p:nvSpPr>
        <p:spPr>
          <a:xfrm>
            <a:off x="457200" y="731520"/>
            <a:ext cx="8229600" cy="1051560"/>
          </a:xfrm>
          <a:prstGeom prst="rect">
            <a:avLst/>
          </a:prstGeom>
          <a:noFill/>
          <a:ln/>
        </p:spPr>
        <p:txBody>
          <a:bodyPr wrap="square" lIns="0" tIns="0" rIns="0" bIns="0" rtlCol="0" anchor="t"/>
          <a:lstStyle/>
          <a:p>
            <a:pPr indent="0" marL="0">
              <a:buNone/>
            </a:pPr>
            <a:r>
              <a:rPr lang="en-US" sz="3200" b="1" dirty="0">
                <a:solidFill>
                  <a:schemeClr val="bg1"/>
                </a:solidFill>
                <a:latin typeface="Cambria" pitchFamily="34" charset="0"/>
                <a:ea typeface="Cambria" pitchFamily="34" charset="-122"/>
                <a:cs typeface="Cambria" pitchFamily="34" charset="-120"/>
              </a:rPr>
              <a:t>Neuro-Symbolic Verification for LLM Smart-Home Scheduling Agents</a:t>
            </a:r>
            <a:endParaRPr lang="en-US" sz="3200" dirty="0"/>
          </a:p>
        </p:txBody>
      </p:sp>
      <p:sp>
        <p:nvSpPr>
          <p:cNvPr id="4" name="Subtitle"/>
          <p:cNvSpPr txBox="1"/>
          <p:nvPr/>
        </p:nvSpPr>
        <p:spPr>
          <a:xfrm>
            <a:off x="457200" y="1828800"/>
            <a:ext cx="8229600" cy="594360"/>
          </a:xfrm>
          <a:prstGeom prst="rect">
            <a:avLst/>
          </a:prstGeom>
          <a:noFill/>
          <a:ln/>
        </p:spPr>
        <p:txBody>
          <a:bodyPr wrap="square" lIns="0" tIns="0" rIns="0" bIns="0" rtlCol="0" anchor="t"/>
          <a:lstStyle/>
          <a:p>
            <a:pPr indent="0" marL="0">
              <a:buNone/>
            </a:pPr>
            <a:r>
              <a:rPr lang="en-US" sz="1600" dirty="0">
                <a:solidFill>
                  <a:srgbClr val="EEF3F7"/>
                </a:solidFill>
                <a:latin typeface="Calibri" pitchFamily="34" charset="0"/>
                <a:ea typeface="Calibri" pitchFamily="34" charset="-122"/>
                <a:cs typeface="Calibri" pitchFamily="34" charset="-120"/>
              </a:rPr>
              <a:t>Catching contradictory requests before they are scheduled (SimuHome benchmark)</a:t>
            </a:r>
            <a:endParaRPr lang="en-US" sz="1600" dirty="0"/>
          </a:p>
        </p:txBody>
      </p:sp>
      <p:sp>
        <p:nvSpPr>
          <p:cNvPr id="5" name="Card Problem"/>
          <p:cNvSpPr/>
          <p:nvPr/>
        </p:nvSpPr>
        <p:spPr>
          <a:xfrm>
            <a:off x="457200" y="2560320"/>
            <a:ext cx="2606040" cy="2103120"/>
          </a:xfrm>
          <a:prstGeom prst="roundRect">
            <a:avLst>
              <a:gd name="adj" fmla="val 3478"/>
            </a:avLst>
          </a:prstGeom>
          <a:solidFill>
            <a:srgbClr val="263A57"/>
          </a:solidFill>
          <a:ln w="6350">
            <a:solidFill>
              <a:srgbClr val="263A57"/>
            </a:solidFill>
            <a:prstDash val="solid"/>
          </a:ln>
        </p:spPr>
      </p:sp>
      <p:sp>
        <p:nvSpPr>
          <p:cNvPr id="6" name="Problem marker"/>
          <p:cNvSpPr/>
          <p:nvPr/>
        </p:nvSpPr>
        <p:spPr>
          <a:xfrm>
            <a:off x="640080" y="2743200"/>
            <a:ext cx="201168" cy="201168"/>
          </a:xfrm>
          <a:prstGeom prst="ellipse">
            <a:avLst/>
          </a:prstGeom>
          <a:solidFill>
            <a:srgbClr val="C0392B"/>
          </a:solidFill>
          <a:ln w="6350">
            <a:solidFill>
              <a:srgbClr val="C0392B"/>
            </a:solidFill>
            <a:prstDash val="solid"/>
          </a:ln>
        </p:spPr>
      </p:sp>
      <p:sp>
        <p:nvSpPr>
          <p:cNvPr id="7" name="Problem head"/>
          <p:cNvSpPr txBox="1"/>
          <p:nvPr/>
        </p:nvSpPr>
        <p:spPr>
          <a:xfrm>
            <a:off x="932688" y="2706624"/>
            <a:ext cx="1920240" cy="292608"/>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Problem</a:t>
            </a:r>
            <a:endParaRPr lang="en-US" sz="1800" dirty="0"/>
          </a:p>
        </p:txBody>
      </p:sp>
      <p:sp>
        <p:nvSpPr>
          <p:cNvPr id="8" name="Problem body"/>
          <p:cNvSpPr txBox="1"/>
          <p:nvPr/>
        </p:nvSpPr>
        <p:spPr>
          <a:xfrm>
            <a:off x="640080" y="3154680"/>
            <a:ext cx="2240280" cy="1371600"/>
          </a:xfrm>
          <a:prstGeom prst="rect">
            <a:avLst/>
          </a:prstGeom>
          <a:noFill/>
          <a:ln/>
        </p:spPr>
        <p:txBody>
          <a:bodyPr wrap="square" lIns="0" tIns="0" rIns="0" bIns="0" rtlCol="0" anchor="t"/>
          <a:lstStyle/>
          <a:p>
            <a:pPr indent="0" marL="0">
              <a:buNone/>
            </a:pPr>
            <a:r>
              <a:rPr lang="en-US" sz="1400" dirty="0">
                <a:solidFill>
                  <a:srgbClr val="EEF3F7"/>
                </a:solidFill>
                <a:latin typeface="Calibri" pitchFamily="34" charset="0"/>
                <a:ea typeface="Calibri" pitchFamily="34" charset="-122"/>
                <a:cs typeface="Calibri" pitchFamily="34" charset="-120"/>
              </a:rPr>
              <a:t>Agents schedule impossible requests (“at 7 PM, that is 25 minutes from now”). 85% of GPT-4.1’s infeasible-scheduling errors are this blindness.</a:t>
            </a:r>
            <a:endParaRPr lang="en-US" sz="1400" dirty="0"/>
          </a:p>
        </p:txBody>
      </p:sp>
      <p:sp>
        <p:nvSpPr>
          <p:cNvPr id="9" name="Card Gap"/>
          <p:cNvSpPr/>
          <p:nvPr/>
        </p:nvSpPr>
        <p:spPr>
          <a:xfrm>
            <a:off x="3268980" y="2560320"/>
            <a:ext cx="2606040" cy="2103120"/>
          </a:xfrm>
          <a:prstGeom prst="roundRect">
            <a:avLst>
              <a:gd name="adj" fmla="val 3478"/>
            </a:avLst>
          </a:prstGeom>
          <a:solidFill>
            <a:srgbClr val="263A57"/>
          </a:solidFill>
          <a:ln w="6350">
            <a:solidFill>
              <a:srgbClr val="263A57"/>
            </a:solidFill>
            <a:prstDash val="solid"/>
          </a:ln>
        </p:spPr>
      </p:sp>
      <p:sp>
        <p:nvSpPr>
          <p:cNvPr id="10" name="Gap marker"/>
          <p:cNvSpPr/>
          <p:nvPr/>
        </p:nvSpPr>
        <p:spPr>
          <a:xfrm>
            <a:off x="3451860" y="2743200"/>
            <a:ext cx="201168" cy="201168"/>
          </a:xfrm>
          <a:prstGeom prst="ellipse">
            <a:avLst/>
          </a:prstGeom>
          <a:solidFill>
            <a:srgbClr val="E9A23B"/>
          </a:solidFill>
          <a:ln w="6350">
            <a:solidFill>
              <a:srgbClr val="E9A23B"/>
            </a:solidFill>
            <a:prstDash val="solid"/>
          </a:ln>
        </p:spPr>
      </p:sp>
      <p:sp>
        <p:nvSpPr>
          <p:cNvPr id="11" name="Gap head"/>
          <p:cNvSpPr txBox="1"/>
          <p:nvPr/>
        </p:nvSpPr>
        <p:spPr>
          <a:xfrm>
            <a:off x="3744468" y="2706624"/>
            <a:ext cx="1920240" cy="292608"/>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Gap</a:t>
            </a:r>
            <a:endParaRPr lang="en-US" sz="1800" dirty="0"/>
          </a:p>
        </p:txBody>
      </p:sp>
      <p:sp>
        <p:nvSpPr>
          <p:cNvPr id="12" name="Gap body"/>
          <p:cNvSpPr txBox="1"/>
          <p:nvPr/>
        </p:nvSpPr>
        <p:spPr>
          <a:xfrm>
            <a:off x="3451860" y="3154680"/>
            <a:ext cx="2240280" cy="1371600"/>
          </a:xfrm>
          <a:prstGeom prst="rect">
            <a:avLst/>
          </a:prstGeom>
          <a:noFill/>
          <a:ln/>
        </p:spPr>
        <p:txBody>
          <a:bodyPr wrap="square" lIns="0" tIns="0" rIns="0" bIns="0" rtlCol="0" anchor="t"/>
          <a:lstStyle/>
          <a:p>
            <a:pPr indent="0" marL="0">
              <a:buNone/>
            </a:pPr>
            <a:r>
              <a:rPr lang="en-US" sz="1400" dirty="0">
                <a:solidFill>
                  <a:srgbClr val="EEF3F7"/>
                </a:solidFill>
                <a:latin typeface="Calibri" pitchFamily="34" charset="0"/>
                <a:ea typeface="Calibri" pitchFamily="34" charset="-122"/>
                <a:cs typeface="Calibri" pitchFamily="34" charset="-120"/>
              </a:rPr>
              <a:t>The tool only confirms registration, and even a prompt warning about contradictions is not enough for GPT-4.1. The paper’s fix idea is heavy.</a:t>
            </a:r>
            <a:endParaRPr lang="en-US" sz="1400" dirty="0"/>
          </a:p>
        </p:txBody>
      </p:sp>
      <p:sp>
        <p:nvSpPr>
          <p:cNvPr id="13" name="Card Our idea"/>
          <p:cNvSpPr/>
          <p:nvPr/>
        </p:nvSpPr>
        <p:spPr>
          <a:xfrm>
            <a:off x="6080760" y="2560320"/>
            <a:ext cx="2606040" cy="2103120"/>
          </a:xfrm>
          <a:prstGeom prst="roundRect">
            <a:avLst>
              <a:gd name="adj" fmla="val 3478"/>
            </a:avLst>
          </a:prstGeom>
          <a:solidFill>
            <a:srgbClr val="263A57"/>
          </a:solidFill>
          <a:ln w="6350">
            <a:solidFill>
              <a:srgbClr val="263A57"/>
            </a:solidFill>
            <a:prstDash val="solid"/>
          </a:ln>
        </p:spPr>
      </p:sp>
      <p:sp>
        <p:nvSpPr>
          <p:cNvPr id="14" name="Our idea marker"/>
          <p:cNvSpPr/>
          <p:nvPr/>
        </p:nvSpPr>
        <p:spPr>
          <a:xfrm>
            <a:off x="6263640" y="2743200"/>
            <a:ext cx="201168" cy="201168"/>
          </a:xfrm>
          <a:prstGeom prst="ellipse">
            <a:avLst/>
          </a:prstGeom>
          <a:solidFill>
            <a:srgbClr val="2A9D8F"/>
          </a:solidFill>
          <a:ln w="6350">
            <a:solidFill>
              <a:srgbClr val="2A9D8F"/>
            </a:solidFill>
            <a:prstDash val="solid"/>
          </a:ln>
        </p:spPr>
      </p:sp>
      <p:sp>
        <p:nvSpPr>
          <p:cNvPr id="15" name="Our idea head"/>
          <p:cNvSpPr txBox="1"/>
          <p:nvPr/>
        </p:nvSpPr>
        <p:spPr>
          <a:xfrm>
            <a:off x="6556248" y="2706624"/>
            <a:ext cx="1920240" cy="292608"/>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Our idea</a:t>
            </a:r>
            <a:endParaRPr lang="en-US" sz="1800" dirty="0"/>
          </a:p>
        </p:txBody>
      </p:sp>
      <p:sp>
        <p:nvSpPr>
          <p:cNvPr id="16" name="Our idea body"/>
          <p:cNvSpPr txBox="1"/>
          <p:nvPr/>
        </p:nvSpPr>
        <p:spPr>
          <a:xfrm>
            <a:off x="6263640" y="3154680"/>
            <a:ext cx="2240280" cy="1371600"/>
          </a:xfrm>
          <a:prstGeom prst="rect">
            <a:avLst/>
          </a:prstGeom>
          <a:noFill/>
          <a:ln/>
        </p:spPr>
        <p:txBody>
          <a:bodyPr wrap="square" lIns="0" tIns="0" rIns="0" bIns="0" rtlCol="0" anchor="t"/>
          <a:lstStyle/>
          <a:p>
            <a:pPr indent="0" marL="0">
              <a:buNone/>
            </a:pPr>
            <a:r>
              <a:rPr lang="en-US" sz="1400" dirty="0">
                <a:solidFill>
                  <a:srgbClr val="EEF3F7"/>
                </a:solidFill>
                <a:latin typeface="Calibri" pitchFamily="34" charset="0"/>
                <a:ea typeface="Calibri" pitchFamily="34" charset="-122"/>
                <a:cs typeface="Calibri" pitchFamily="34" charset="-120"/>
              </a:rPr>
              <a:t>A small parser plus a Z3 check in front of the tool rejects contradictions and says why. The big agent is not retrained.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1B2A41"/>
                </a:solidFill>
                <a:latin typeface="Cambria" pitchFamily="34" charset="0"/>
                <a:ea typeface="Cambria" pitchFamily="34" charset="-122"/>
                <a:cs typeface="Cambria" pitchFamily="34" charset="-120"/>
              </a:rPr>
              <a:t>What SimuHome found, and what we build on</a:t>
            </a:r>
            <a:endParaRPr lang="en-US" sz="2800" dirty="0"/>
          </a:p>
        </p:txBody>
      </p:sp>
      <p:sp>
        <p:nvSpPr>
          <p:cNvPr id="3" name="Panel SimuHome (ICLR 2026) found"/>
          <p:cNvSpPr/>
          <p:nvPr/>
        </p:nvSpPr>
        <p:spPr>
          <a:xfrm>
            <a:off x="457200" y="1097280"/>
            <a:ext cx="4023360" cy="3611880"/>
          </a:xfrm>
          <a:prstGeom prst="roundRect">
            <a:avLst>
              <a:gd name="adj" fmla="val 2025"/>
            </a:avLst>
          </a:prstGeom>
          <a:solidFill>
            <a:srgbClr val="EEF3F7"/>
          </a:solidFill>
          <a:ln w="6350">
            <a:solidFill>
              <a:srgbClr val="EEF3F7"/>
            </a:solidFill>
            <a:prstDash val="solid"/>
          </a:ln>
        </p:spPr>
      </p:sp>
      <p:sp>
        <p:nvSpPr>
          <p:cNvPr id="4" name="SimuHome (ICLR 2026) found marker"/>
          <p:cNvSpPr/>
          <p:nvPr/>
        </p:nvSpPr>
        <p:spPr>
          <a:xfrm>
            <a:off x="640080" y="1298448"/>
            <a:ext cx="201168" cy="201168"/>
          </a:xfrm>
          <a:prstGeom prst="ellipse">
            <a:avLst/>
          </a:prstGeom>
          <a:solidFill>
            <a:srgbClr val="C0392B"/>
          </a:solidFill>
          <a:ln w="6350">
            <a:solidFill>
              <a:srgbClr val="C0392B"/>
            </a:solidFill>
            <a:prstDash val="solid"/>
          </a:ln>
        </p:spPr>
      </p:sp>
      <p:sp>
        <p:nvSpPr>
          <p:cNvPr id="5" name="SimuHome (ICLR 2026) found head"/>
          <p:cNvSpPr txBox="1"/>
          <p:nvPr/>
        </p:nvSpPr>
        <p:spPr>
          <a:xfrm>
            <a:off x="932688" y="1252728"/>
            <a:ext cx="3383280" cy="292608"/>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SimuHome (ICLR 2026) found</a:t>
            </a:r>
            <a:endParaRPr lang="en-US" sz="1800" dirty="0"/>
          </a:p>
        </p:txBody>
      </p:sp>
      <p:sp>
        <p:nvSpPr>
          <p:cNvPr id="6" name="SimuHome (ICLR 2026) found bullets"/>
          <p:cNvSpPr txBox="1"/>
          <p:nvPr/>
        </p:nvSpPr>
        <p:spPr>
          <a:xfrm>
            <a:off x="685800" y="1737360"/>
            <a:ext cx="3611880" cy="28346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600 episodes, 18 LLM agents; scheduling (QT4) is the hardest category</a:t>
            </a:r>
            <a:endParaRPr lang="en-US" sz="1400" dirty="0"/>
          </a:p>
          <a:p>
            <a:pPr marL="177800" indent="-1778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On infeasible QT4, contradiction blindness dominates: 85% of GPT-4.1 errors</a:t>
            </a:r>
            <a:endParaRPr lang="en-US" sz="1400" dirty="0"/>
          </a:p>
          <a:p>
            <a:pPr marL="177800" indent="-1778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schedule_workflow returns only a confirmation and validates nothing</a:t>
            </a:r>
            <a:endParaRPr lang="en-US" sz="1400" dirty="0"/>
          </a:p>
          <a:p>
            <a:pPr marL="177800" indent="-1778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Its prompt already warns about contradictions, yet GPT-4.1 misses most; post-hoc self-review recovers at most 18.5%</a:t>
            </a:r>
            <a:endParaRPr lang="en-US" sz="1400" dirty="0"/>
          </a:p>
          <a:p>
            <a:pPr marL="177800" indent="-1778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Suggested future work: simulation-based pre-validation</a:t>
            </a:r>
            <a:endParaRPr lang="en-US" sz="1400" dirty="0"/>
          </a:p>
        </p:txBody>
      </p:sp>
      <p:sp>
        <p:nvSpPr>
          <p:cNvPr id="7" name="Panel What we use from others"/>
          <p:cNvSpPr/>
          <p:nvPr/>
        </p:nvSpPr>
        <p:spPr>
          <a:xfrm>
            <a:off x="4663440" y="1097280"/>
            <a:ext cx="4023360" cy="3611880"/>
          </a:xfrm>
          <a:prstGeom prst="roundRect">
            <a:avLst>
              <a:gd name="adj" fmla="val 2025"/>
            </a:avLst>
          </a:prstGeom>
          <a:solidFill>
            <a:srgbClr val="EEF3F7"/>
          </a:solidFill>
          <a:ln w="6350">
            <a:solidFill>
              <a:srgbClr val="EEF3F7"/>
            </a:solidFill>
            <a:prstDash val="solid"/>
          </a:ln>
        </p:spPr>
      </p:sp>
      <p:sp>
        <p:nvSpPr>
          <p:cNvPr id="8" name="What we use from others marker"/>
          <p:cNvSpPr/>
          <p:nvPr/>
        </p:nvSpPr>
        <p:spPr>
          <a:xfrm>
            <a:off x="4846320" y="1298448"/>
            <a:ext cx="201168" cy="201168"/>
          </a:xfrm>
          <a:prstGeom prst="ellipse">
            <a:avLst/>
          </a:prstGeom>
          <a:solidFill>
            <a:srgbClr val="2A9D8F"/>
          </a:solidFill>
          <a:ln w="6350">
            <a:solidFill>
              <a:srgbClr val="2A9D8F"/>
            </a:solidFill>
            <a:prstDash val="solid"/>
          </a:ln>
        </p:spPr>
      </p:sp>
      <p:sp>
        <p:nvSpPr>
          <p:cNvPr id="9" name="What we use from others head"/>
          <p:cNvSpPr txBox="1"/>
          <p:nvPr/>
        </p:nvSpPr>
        <p:spPr>
          <a:xfrm>
            <a:off x="5138928" y="1252728"/>
            <a:ext cx="3383280" cy="292608"/>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What we use from others</a:t>
            </a:r>
            <a:endParaRPr lang="en-US" sz="1800" dirty="0"/>
          </a:p>
        </p:txBody>
      </p:sp>
      <p:sp>
        <p:nvSpPr>
          <p:cNvPr id="10" name="What we use from others bullets"/>
          <p:cNvSpPr txBox="1"/>
          <p:nvPr/>
        </p:nvSpPr>
        <p:spPr>
          <a:xfrm>
            <a:off x="4892040" y="1737360"/>
            <a:ext cx="3611880" cy="2834640"/>
          </a:xfrm>
          <a:prstGeom prst="rect">
            <a:avLst/>
          </a:prstGeom>
          <a:noFill/>
          <a:ln/>
        </p:spPr>
        <p:txBody>
          <a:bodyPr wrap="square" lIns="0" tIns="0" rIns="0" bIns="0" rtlCol="0" anchor="t"/>
          <a:lstStyle/>
          <a:p>
            <a:pPr marL="177800" indent="-1778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SimuHome: simulator, 300 QT4 episodes, ReAct agent and scorers, unchanged</a:t>
            </a:r>
            <a:endParaRPr lang="en-US" sz="1400" dirty="0"/>
          </a:p>
          <a:p>
            <a:pPr marL="177800" indent="-1778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Its own episode labels become training data, with no manual annotation</a:t>
            </a:r>
            <a:endParaRPr lang="en-US" sz="1400" dirty="0"/>
          </a:p>
          <a:p>
            <a:pPr marL="177800" indent="-1778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Agent-C idea: an SMT solver in front of tool calls; we extend it to real-valued time</a:t>
            </a:r>
            <a:endParaRPr lang="en-US" sz="1400" dirty="0"/>
          </a:p>
          <a:p>
            <a:pPr marL="177800" indent="-1778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Z3 solver; Qwen3-1.7B with LoRA for the parser</a:t>
            </a:r>
            <a:endParaRPr lang="en-US" sz="1400" dirty="0"/>
          </a:p>
          <a:p>
            <a:pPr marL="177800" indent="-177800">
              <a:spcAft>
                <a:spcPts val="700"/>
              </a:spcAft>
              <a:buSzPct val="100000"/>
              <a:buChar char="•"/>
            </a:pPr>
            <a:r>
              <a:rPr lang="en-US" sz="1400" dirty="0">
                <a:solidFill>
                  <a:schemeClr val="tx1"/>
                </a:solidFill>
                <a:latin typeface="Calibri" pitchFamily="34" charset="0"/>
                <a:ea typeface="Calibri" pitchFamily="34" charset="-122"/>
                <a:cs typeface="Calibri" pitchFamily="34" charset="-120"/>
              </a:rPr>
              <a:t>Gemma-31B (NVIDIA hosted) as the untrained agent</a:t>
            </a:r>
            <a:endParaRPr lang="en-US" sz="14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1B2A41"/>
                </a:solidFill>
                <a:latin typeface="Cambria" pitchFamily="34" charset="0"/>
                <a:ea typeface="Cambria" pitchFamily="34" charset="-122"/>
                <a:cs typeface="Cambria" pitchFamily="34" charset="-120"/>
              </a:rPr>
              <a:t>Architecture: a gate in front of the tool</a:t>
            </a:r>
            <a:endParaRPr lang="en-US" sz="2800" dirty="0"/>
          </a:p>
        </p:txBody>
      </p:sp>
      <p:sp>
        <p:nvSpPr>
          <p:cNvPr id="3" name="Top User request"/>
          <p:cNvSpPr/>
          <p:nvPr/>
        </p:nvSpPr>
        <p:spPr>
          <a:xfrm>
            <a:off x="457200" y="1097280"/>
            <a:ext cx="1737360" cy="960120"/>
          </a:xfrm>
          <a:prstGeom prst="roundRect">
            <a:avLst>
              <a:gd name="adj" fmla="val 7619"/>
            </a:avLst>
          </a:prstGeom>
          <a:solidFill>
            <a:srgbClr val="8A94A6"/>
          </a:solidFill>
          <a:ln w="6350">
            <a:solidFill>
              <a:srgbClr val="8A94A6"/>
            </a:solidFill>
            <a:prstDash val="solid"/>
          </a:ln>
        </p:spPr>
      </p:sp>
      <p:sp>
        <p:nvSpPr>
          <p:cNvPr id="4" name="Top User request title"/>
          <p:cNvSpPr txBox="1"/>
          <p:nvPr/>
        </p:nvSpPr>
        <p:spPr>
          <a:xfrm>
            <a:off x="502920" y="1261872"/>
            <a:ext cx="1645920" cy="274320"/>
          </a:xfrm>
          <a:prstGeom prst="rect">
            <a:avLst/>
          </a:prstGeom>
          <a:noFill/>
          <a:ln/>
        </p:spPr>
        <p:txBody>
          <a:bodyPr wrap="square" lIns="0" tIns="0" rIns="0" bIns="0" rtlCol="0" anchor="t"/>
          <a:lstStyle/>
          <a:p>
            <a:pPr algn="ctr" indent="0" marL="0">
              <a:buNone/>
            </a:pPr>
            <a:r>
              <a:rPr lang="en-US" sz="1300" b="1" dirty="0">
                <a:solidFill>
                  <a:schemeClr val="bg1"/>
                </a:solidFill>
                <a:latin typeface="Calibri" pitchFamily="34" charset="0"/>
                <a:ea typeface="Calibri" pitchFamily="34" charset="-122"/>
                <a:cs typeface="Calibri" pitchFamily="34" charset="-120"/>
              </a:rPr>
              <a:t>User request</a:t>
            </a:r>
            <a:endParaRPr lang="en-US" sz="1300" dirty="0"/>
          </a:p>
        </p:txBody>
      </p:sp>
      <p:sp>
        <p:nvSpPr>
          <p:cNvPr id="5" name="Top User request sub"/>
          <p:cNvSpPr txBox="1"/>
          <p:nvPr/>
        </p:nvSpPr>
        <p:spPr>
          <a:xfrm>
            <a:off x="502920" y="1600200"/>
            <a:ext cx="1645920" cy="365760"/>
          </a:xfrm>
          <a:prstGeom prst="rect">
            <a:avLst/>
          </a:prstGeom>
          <a:noFill/>
          <a:ln/>
        </p:spPr>
        <p:txBody>
          <a:bodyPr wrap="square" lIns="0" tIns="0" rIns="0" bIns="0" rtlCol="0" anchor="t"/>
          <a:lstStyle/>
          <a:p>
            <a:pPr algn="ctr" indent="0" marL="0">
              <a:buNone/>
            </a:pPr>
            <a:r>
              <a:rPr lang="en-US" sz="1100" dirty="0">
                <a:solidFill>
                  <a:schemeClr val="bg1"/>
                </a:solidFill>
                <a:latin typeface="Calibri" pitchFamily="34" charset="0"/>
                <a:ea typeface="Calibri" pitchFamily="34" charset="-122"/>
                <a:cs typeface="Calibri" pitchFamily="34" charset="-120"/>
              </a:rPr>
              <a:t>natural language</a:t>
            </a:r>
            <a:endParaRPr lang="en-US" sz="1100" dirty="0"/>
          </a:p>
        </p:txBody>
      </p:sp>
      <p:sp>
        <p:nvSpPr>
          <p:cNvPr id="6" name="Top Agent LLM (ReAct)"/>
          <p:cNvSpPr/>
          <p:nvPr/>
        </p:nvSpPr>
        <p:spPr>
          <a:xfrm>
            <a:off x="2743200" y="1097280"/>
            <a:ext cx="2011680" cy="960120"/>
          </a:xfrm>
          <a:prstGeom prst="roundRect">
            <a:avLst>
              <a:gd name="adj" fmla="val 7619"/>
            </a:avLst>
          </a:prstGeom>
          <a:solidFill>
            <a:srgbClr val="1B2A41"/>
          </a:solidFill>
          <a:ln w="6350">
            <a:solidFill>
              <a:srgbClr val="1B2A41"/>
            </a:solidFill>
            <a:prstDash val="solid"/>
          </a:ln>
        </p:spPr>
      </p:sp>
      <p:sp>
        <p:nvSpPr>
          <p:cNvPr id="7" name="Top Agent LLM (ReAct) title"/>
          <p:cNvSpPr txBox="1"/>
          <p:nvPr/>
        </p:nvSpPr>
        <p:spPr>
          <a:xfrm>
            <a:off x="2788920" y="1261872"/>
            <a:ext cx="1920240" cy="274320"/>
          </a:xfrm>
          <a:prstGeom prst="rect">
            <a:avLst/>
          </a:prstGeom>
          <a:noFill/>
          <a:ln/>
        </p:spPr>
        <p:txBody>
          <a:bodyPr wrap="square" lIns="0" tIns="0" rIns="0" bIns="0" rtlCol="0" anchor="t"/>
          <a:lstStyle/>
          <a:p>
            <a:pPr algn="ctr" indent="0" marL="0">
              <a:buNone/>
            </a:pPr>
            <a:r>
              <a:rPr lang="en-US" sz="1300" b="1" dirty="0">
                <a:solidFill>
                  <a:schemeClr val="bg1"/>
                </a:solidFill>
                <a:latin typeface="Calibri" pitchFamily="34" charset="0"/>
                <a:ea typeface="Calibri" pitchFamily="34" charset="-122"/>
                <a:cs typeface="Calibri" pitchFamily="34" charset="-120"/>
              </a:rPr>
              <a:t>Agent LLM (ReAct)</a:t>
            </a:r>
            <a:endParaRPr lang="en-US" sz="1300" dirty="0"/>
          </a:p>
        </p:txBody>
      </p:sp>
      <p:sp>
        <p:nvSpPr>
          <p:cNvPr id="8" name="Top Agent LLM (ReAct) sub"/>
          <p:cNvSpPr txBox="1"/>
          <p:nvPr/>
        </p:nvSpPr>
        <p:spPr>
          <a:xfrm>
            <a:off x="2788920" y="1600200"/>
            <a:ext cx="1920240" cy="365760"/>
          </a:xfrm>
          <a:prstGeom prst="rect">
            <a:avLst/>
          </a:prstGeom>
          <a:noFill/>
          <a:ln/>
        </p:spPr>
        <p:txBody>
          <a:bodyPr wrap="square" lIns="0" tIns="0" rIns="0" bIns="0" rtlCol="0" anchor="t"/>
          <a:lstStyle/>
          <a:p>
            <a:pPr algn="ctr" indent="0" marL="0">
              <a:buNone/>
            </a:pPr>
            <a:r>
              <a:rPr lang="en-US" sz="1100" dirty="0">
                <a:solidFill>
                  <a:schemeClr val="bg1"/>
                </a:solidFill>
                <a:latin typeface="Calibri" pitchFamily="34" charset="0"/>
                <a:ea typeface="Calibri" pitchFamily="34" charset="-122"/>
                <a:cs typeface="Calibri" pitchFamily="34" charset="-120"/>
              </a:rPr>
              <a:t>Gemma-31B, not retrained</a:t>
            </a:r>
            <a:endParaRPr lang="en-US" sz="1100" dirty="0"/>
          </a:p>
        </p:txBody>
      </p:sp>
      <p:sp>
        <p:nvSpPr>
          <p:cNvPr id="9" name="Top schedule_workflow"/>
          <p:cNvSpPr/>
          <p:nvPr/>
        </p:nvSpPr>
        <p:spPr>
          <a:xfrm>
            <a:off x="5303520" y="1097280"/>
            <a:ext cx="1737360" cy="960120"/>
          </a:xfrm>
          <a:prstGeom prst="roundRect">
            <a:avLst>
              <a:gd name="adj" fmla="val 7619"/>
            </a:avLst>
          </a:prstGeom>
          <a:solidFill>
            <a:srgbClr val="C0392B"/>
          </a:solidFill>
          <a:ln w="6350">
            <a:solidFill>
              <a:srgbClr val="C0392B"/>
            </a:solidFill>
            <a:prstDash val="solid"/>
          </a:ln>
        </p:spPr>
      </p:sp>
      <p:sp>
        <p:nvSpPr>
          <p:cNvPr id="10" name="Top schedule_workflow title"/>
          <p:cNvSpPr txBox="1"/>
          <p:nvPr/>
        </p:nvSpPr>
        <p:spPr>
          <a:xfrm>
            <a:off x="5349240" y="1261872"/>
            <a:ext cx="1645920" cy="274320"/>
          </a:xfrm>
          <a:prstGeom prst="rect">
            <a:avLst/>
          </a:prstGeom>
          <a:noFill/>
          <a:ln/>
        </p:spPr>
        <p:txBody>
          <a:bodyPr wrap="square" lIns="0" tIns="0" rIns="0" bIns="0" rtlCol="0" anchor="t"/>
          <a:lstStyle/>
          <a:p>
            <a:pPr algn="ctr" indent="0" marL="0">
              <a:buNone/>
            </a:pPr>
            <a:r>
              <a:rPr lang="en-US" sz="1300" b="1" dirty="0">
                <a:solidFill>
                  <a:schemeClr val="bg1"/>
                </a:solidFill>
                <a:latin typeface="Calibri" pitchFamily="34" charset="0"/>
                <a:ea typeface="Calibri" pitchFamily="34" charset="-122"/>
                <a:cs typeface="Calibri" pitchFamily="34" charset="-120"/>
              </a:rPr>
              <a:t>schedule_workflow</a:t>
            </a:r>
            <a:endParaRPr lang="en-US" sz="1300" dirty="0"/>
          </a:p>
        </p:txBody>
      </p:sp>
      <p:sp>
        <p:nvSpPr>
          <p:cNvPr id="11" name="Top schedule_workflow sub"/>
          <p:cNvSpPr txBox="1"/>
          <p:nvPr/>
        </p:nvSpPr>
        <p:spPr>
          <a:xfrm>
            <a:off x="5349240" y="1600200"/>
            <a:ext cx="1645920" cy="365760"/>
          </a:xfrm>
          <a:prstGeom prst="rect">
            <a:avLst/>
          </a:prstGeom>
          <a:noFill/>
          <a:ln/>
        </p:spPr>
        <p:txBody>
          <a:bodyPr wrap="square" lIns="0" tIns="0" rIns="0" bIns="0" rtlCol="0" anchor="t"/>
          <a:lstStyle/>
          <a:p>
            <a:pPr algn="ctr" indent="0" marL="0">
              <a:buNone/>
            </a:pPr>
            <a:r>
              <a:rPr lang="en-US" sz="1100" dirty="0">
                <a:solidFill>
                  <a:schemeClr val="bg1"/>
                </a:solidFill>
                <a:latin typeface="Calibri" pitchFamily="34" charset="0"/>
                <a:ea typeface="Calibri" pitchFamily="34" charset="-122"/>
                <a:cs typeface="Calibri" pitchFamily="34" charset="-120"/>
              </a:rPr>
              <a:t>accepts any schedule</a:t>
            </a:r>
            <a:endParaRPr lang="en-US" sz="1100" dirty="0"/>
          </a:p>
        </p:txBody>
      </p:sp>
      <p:sp>
        <p:nvSpPr>
          <p:cNvPr id="12" name="Top Simulator"/>
          <p:cNvSpPr/>
          <p:nvPr/>
        </p:nvSpPr>
        <p:spPr>
          <a:xfrm>
            <a:off x="7406640" y="1097280"/>
            <a:ext cx="1280160" cy="960120"/>
          </a:xfrm>
          <a:prstGeom prst="roundRect">
            <a:avLst>
              <a:gd name="adj" fmla="val 7619"/>
            </a:avLst>
          </a:prstGeom>
          <a:solidFill>
            <a:srgbClr val="8A94A6"/>
          </a:solidFill>
          <a:ln w="6350">
            <a:solidFill>
              <a:srgbClr val="8A94A6"/>
            </a:solidFill>
            <a:prstDash val="solid"/>
          </a:ln>
        </p:spPr>
      </p:sp>
      <p:sp>
        <p:nvSpPr>
          <p:cNvPr id="13" name="Top Simulator title"/>
          <p:cNvSpPr txBox="1"/>
          <p:nvPr/>
        </p:nvSpPr>
        <p:spPr>
          <a:xfrm>
            <a:off x="7452360" y="1261872"/>
            <a:ext cx="1188720" cy="274320"/>
          </a:xfrm>
          <a:prstGeom prst="rect">
            <a:avLst/>
          </a:prstGeom>
          <a:noFill/>
          <a:ln/>
        </p:spPr>
        <p:txBody>
          <a:bodyPr wrap="square" lIns="0" tIns="0" rIns="0" bIns="0" rtlCol="0" anchor="t"/>
          <a:lstStyle/>
          <a:p>
            <a:pPr algn="ctr" indent="0" marL="0">
              <a:buNone/>
            </a:pPr>
            <a:r>
              <a:rPr lang="en-US" sz="1300" b="1" dirty="0">
                <a:solidFill>
                  <a:schemeClr val="bg1"/>
                </a:solidFill>
                <a:latin typeface="Calibri" pitchFamily="34" charset="0"/>
                <a:ea typeface="Calibri" pitchFamily="34" charset="-122"/>
                <a:cs typeface="Calibri" pitchFamily="34" charset="-120"/>
              </a:rPr>
              <a:t>Simulator</a:t>
            </a:r>
            <a:endParaRPr lang="en-US" sz="1300" dirty="0"/>
          </a:p>
        </p:txBody>
      </p:sp>
      <p:sp>
        <p:nvSpPr>
          <p:cNvPr id="14" name="Top Simulator sub"/>
          <p:cNvSpPr txBox="1"/>
          <p:nvPr/>
        </p:nvSpPr>
        <p:spPr>
          <a:xfrm>
            <a:off x="7452360" y="1600200"/>
            <a:ext cx="1188720" cy="365760"/>
          </a:xfrm>
          <a:prstGeom prst="rect">
            <a:avLst/>
          </a:prstGeom>
          <a:noFill/>
          <a:ln/>
        </p:spPr>
        <p:txBody>
          <a:bodyPr wrap="square" lIns="0" tIns="0" rIns="0" bIns="0" rtlCol="0" anchor="t"/>
          <a:lstStyle/>
          <a:p>
            <a:pPr algn="ctr" indent="0" marL="0">
              <a:buNone/>
            </a:pPr>
            <a:r>
              <a:rPr lang="en-US" sz="1100" dirty="0">
                <a:solidFill>
                  <a:schemeClr val="bg1"/>
                </a:solidFill>
                <a:latin typeface="Calibri" pitchFamily="34" charset="0"/>
                <a:ea typeface="Calibri" pitchFamily="34" charset="-122"/>
                <a:cs typeface="Calibri" pitchFamily="34" charset="-120"/>
              </a:rPr>
              <a:t>Matter devices</a:t>
            </a:r>
            <a:endParaRPr lang="en-US" sz="1100" dirty="0"/>
          </a:p>
        </p:txBody>
      </p:sp>
      <p:sp>
        <p:nvSpPr>
          <p:cNvPr id="15" name="Shape 13"/>
          <p:cNvSpPr/>
          <p:nvPr/>
        </p:nvSpPr>
        <p:spPr>
          <a:xfrm>
            <a:off x="2194560" y="1577340"/>
            <a:ext cx="548640" cy="0"/>
          </a:xfrm>
          <a:prstGeom prst="line">
            <a:avLst/>
          </a:prstGeom>
          <a:noFill/>
          <a:ln w="25400">
            <a:solidFill>
              <a:srgbClr val="8A94A6"/>
            </a:solidFill>
            <a:prstDash val="solid"/>
            <a:tailEnd type="triangle"/>
          </a:ln>
        </p:spPr>
      </p:sp>
      <p:sp>
        <p:nvSpPr>
          <p:cNvPr id="16" name="Shape 14"/>
          <p:cNvSpPr/>
          <p:nvPr/>
        </p:nvSpPr>
        <p:spPr>
          <a:xfrm>
            <a:off x="4754880" y="1577340"/>
            <a:ext cx="548640" cy="0"/>
          </a:xfrm>
          <a:prstGeom prst="line">
            <a:avLst/>
          </a:prstGeom>
          <a:noFill/>
          <a:ln w="25400">
            <a:solidFill>
              <a:srgbClr val="8A94A6"/>
            </a:solidFill>
            <a:prstDash val="solid"/>
            <a:tailEnd type="triangle"/>
          </a:ln>
        </p:spPr>
      </p:sp>
      <p:sp>
        <p:nvSpPr>
          <p:cNvPr id="17" name="Shape 15"/>
          <p:cNvSpPr/>
          <p:nvPr/>
        </p:nvSpPr>
        <p:spPr>
          <a:xfrm>
            <a:off x="7040880" y="1577340"/>
            <a:ext cx="365760" cy="0"/>
          </a:xfrm>
          <a:prstGeom prst="line">
            <a:avLst/>
          </a:prstGeom>
          <a:noFill/>
          <a:ln w="25400">
            <a:solidFill>
              <a:srgbClr val="8A94A6"/>
            </a:solidFill>
            <a:prstDash val="solid"/>
            <a:tailEnd type="triangle"/>
          </a:ln>
        </p:spPr>
      </p:sp>
      <p:sp>
        <p:nvSpPr>
          <p:cNvPr id="18" name="Verifier band"/>
          <p:cNvSpPr/>
          <p:nvPr/>
        </p:nvSpPr>
        <p:spPr>
          <a:xfrm>
            <a:off x="457200" y="2606040"/>
            <a:ext cx="8229600" cy="2057400"/>
          </a:xfrm>
          <a:prstGeom prst="roundRect">
            <a:avLst>
              <a:gd name="adj" fmla="val 4444"/>
            </a:avLst>
          </a:prstGeom>
          <a:solidFill>
            <a:srgbClr val="EEF3F7"/>
          </a:solidFill>
          <a:ln w="19050">
            <a:solidFill>
              <a:srgbClr val="2A9D8F"/>
            </a:solidFill>
            <a:prstDash val="dash"/>
          </a:ln>
        </p:spPr>
      </p:sp>
      <p:sp>
        <p:nvSpPr>
          <p:cNvPr id="19" name="Band label"/>
          <p:cNvSpPr txBox="1"/>
          <p:nvPr/>
        </p:nvSpPr>
        <p:spPr>
          <a:xfrm>
            <a:off x="685800" y="2697480"/>
            <a:ext cx="7772400" cy="274320"/>
          </a:xfrm>
          <a:prstGeom prst="rect">
            <a:avLst/>
          </a:prstGeom>
          <a:noFill/>
          <a:ln/>
        </p:spPr>
        <p:txBody>
          <a:bodyPr wrap="square" lIns="0" tIns="0" rIns="0" bIns="0" rtlCol="0" anchor="t"/>
          <a:lstStyle/>
          <a:p>
            <a:pPr indent="0" marL="0">
              <a:buNone/>
            </a:pPr>
            <a:r>
              <a:rPr lang="en-US" sz="1200" b="1" dirty="0">
                <a:solidFill>
                  <a:srgbClr val="2A9D8F"/>
                </a:solidFill>
                <a:latin typeface="Calibri" pitchFamily="34" charset="0"/>
                <a:ea typeface="Calibri" pitchFamily="34" charset="-122"/>
                <a:cs typeface="Calibri" pitchFamily="34" charset="-120"/>
              </a:rPr>
              <a:t>OUR CONTRIBUTION: verifier inserted in front of schedule_workflow</a:t>
            </a:r>
            <a:endParaRPr lang="en-US" sz="1200" dirty="0"/>
          </a:p>
        </p:txBody>
      </p:sp>
      <p:sp>
        <p:nvSpPr>
          <p:cNvPr id="20" name="Step 1"/>
          <p:cNvSpPr/>
          <p:nvPr/>
        </p:nvSpPr>
        <p:spPr>
          <a:xfrm>
            <a:off x="662940" y="3108960"/>
            <a:ext cx="1783080" cy="1417320"/>
          </a:xfrm>
          <a:prstGeom prst="roundRect">
            <a:avLst>
              <a:gd name="adj" fmla="val 5161"/>
            </a:avLst>
          </a:prstGeom>
          <a:solidFill>
            <a:srgbClr val="2A9D8F"/>
          </a:solidFill>
          <a:ln w="6350">
            <a:solidFill>
              <a:srgbClr val="2A9D8F"/>
            </a:solidFill>
            <a:prstDash val="solid"/>
          </a:ln>
        </p:spPr>
      </p:sp>
      <p:sp>
        <p:nvSpPr>
          <p:cNvPr id="21" name="Step 1 title"/>
          <p:cNvSpPr txBox="1"/>
          <p:nvPr/>
        </p:nvSpPr>
        <p:spPr>
          <a:xfrm>
            <a:off x="772668" y="3200400"/>
            <a:ext cx="1563624" cy="274320"/>
          </a:xfrm>
          <a:prstGeom prst="rect">
            <a:avLst/>
          </a:prstGeom>
          <a:noFill/>
          <a:ln/>
        </p:spPr>
        <p:txBody>
          <a:bodyPr wrap="square" lIns="0" tIns="0" rIns="0" bIns="0" rtlCol="0" anchor="t"/>
          <a:lstStyle/>
          <a:p>
            <a:pPr indent="0" marL="0">
              <a:buNone/>
            </a:pPr>
            <a:r>
              <a:rPr lang="en-US" sz="1300" b="1" dirty="0">
                <a:solidFill>
                  <a:schemeClr val="bg1"/>
                </a:solidFill>
                <a:latin typeface="Calibri" pitchFamily="34" charset="0"/>
                <a:ea typeface="Calibri" pitchFamily="34" charset="-122"/>
                <a:cs typeface="Calibri" pitchFamily="34" charset="-120"/>
              </a:rPr>
              <a:t>1. Intent parser</a:t>
            </a:r>
            <a:endParaRPr lang="en-US" sz="1300" dirty="0"/>
          </a:p>
        </p:txBody>
      </p:sp>
      <p:sp>
        <p:nvSpPr>
          <p:cNvPr id="22" name="Step 1 text"/>
          <p:cNvSpPr txBox="1"/>
          <p:nvPr/>
        </p:nvSpPr>
        <p:spPr>
          <a:xfrm>
            <a:off x="772668" y="3520440"/>
            <a:ext cx="1563624" cy="914400"/>
          </a:xfrm>
          <a:prstGeom prst="rect">
            <a:avLst/>
          </a:prstGeom>
          <a:noFill/>
          <a:ln/>
        </p:spPr>
        <p:txBody>
          <a:bodyPr wrap="square" lIns="0" tIns="0" rIns="0" bIns="0" rtlCol="0" anchor="t"/>
          <a:lstStyle/>
          <a:p>
            <a:pPr indent="0" marL="0">
              <a:buNone/>
            </a:pPr>
            <a:r>
              <a:rPr lang="en-US" sz="1100" dirty="0">
                <a:solidFill>
                  <a:schemeClr val="bg1"/>
                </a:solidFill>
                <a:latin typeface="Calibri" pitchFamily="34" charset="0"/>
                <a:ea typeface="Calibri" pitchFamily="34" charset="-122"/>
                <a:cs typeface="Calibri" pitchFamily="34" charset="-120"/>
              </a:rPr>
              <a:t>Qwen3-1.7B + LoRA turns the request into a typed IR (goals and time readings)</a:t>
            </a:r>
            <a:endParaRPr lang="en-US" sz="1100" dirty="0"/>
          </a:p>
        </p:txBody>
      </p:sp>
      <p:sp>
        <p:nvSpPr>
          <p:cNvPr id="23" name="Shape 21"/>
          <p:cNvSpPr/>
          <p:nvPr/>
        </p:nvSpPr>
        <p:spPr>
          <a:xfrm>
            <a:off x="2446020" y="3817620"/>
            <a:ext cx="228600" cy="0"/>
          </a:xfrm>
          <a:prstGeom prst="line">
            <a:avLst/>
          </a:prstGeom>
          <a:noFill/>
          <a:ln w="25400">
            <a:solidFill>
              <a:srgbClr val="8A94A6"/>
            </a:solidFill>
            <a:prstDash val="solid"/>
            <a:tailEnd type="triangle"/>
          </a:ln>
        </p:spPr>
      </p:sp>
      <p:sp>
        <p:nvSpPr>
          <p:cNvPr id="24" name="Step 2"/>
          <p:cNvSpPr/>
          <p:nvPr/>
        </p:nvSpPr>
        <p:spPr>
          <a:xfrm>
            <a:off x="2674620" y="3108960"/>
            <a:ext cx="1783080" cy="1417320"/>
          </a:xfrm>
          <a:prstGeom prst="roundRect">
            <a:avLst>
              <a:gd name="adj" fmla="val 5161"/>
            </a:avLst>
          </a:prstGeom>
          <a:solidFill>
            <a:srgbClr val="2A9D8F"/>
          </a:solidFill>
          <a:ln w="6350">
            <a:solidFill>
              <a:srgbClr val="2A9D8F"/>
            </a:solidFill>
            <a:prstDash val="solid"/>
          </a:ln>
        </p:spPr>
      </p:sp>
      <p:sp>
        <p:nvSpPr>
          <p:cNvPr id="25" name="Step 2 title"/>
          <p:cNvSpPr txBox="1"/>
          <p:nvPr/>
        </p:nvSpPr>
        <p:spPr>
          <a:xfrm>
            <a:off x="2784348" y="3200400"/>
            <a:ext cx="1563624" cy="274320"/>
          </a:xfrm>
          <a:prstGeom prst="rect">
            <a:avLst/>
          </a:prstGeom>
          <a:noFill/>
          <a:ln/>
        </p:spPr>
        <p:txBody>
          <a:bodyPr wrap="square" lIns="0" tIns="0" rIns="0" bIns="0" rtlCol="0" anchor="t"/>
          <a:lstStyle/>
          <a:p>
            <a:pPr indent="0" marL="0">
              <a:buNone/>
            </a:pPr>
            <a:r>
              <a:rPr lang="en-US" sz="1300" b="1" dirty="0">
                <a:solidFill>
                  <a:schemeClr val="bg1"/>
                </a:solidFill>
                <a:latin typeface="Calibri" pitchFamily="34" charset="0"/>
                <a:ea typeface="Calibri" pitchFamily="34" charset="-122"/>
                <a:cs typeface="Calibri" pitchFamily="34" charset="-120"/>
              </a:rPr>
              <a:t>2. Anchor resolver</a:t>
            </a:r>
            <a:endParaRPr lang="en-US" sz="1300" dirty="0"/>
          </a:p>
        </p:txBody>
      </p:sp>
      <p:sp>
        <p:nvSpPr>
          <p:cNvPr id="26" name="Step 2 text"/>
          <p:cNvSpPr txBox="1"/>
          <p:nvPr/>
        </p:nvSpPr>
        <p:spPr>
          <a:xfrm>
            <a:off x="2784348" y="3520440"/>
            <a:ext cx="1563624" cy="914400"/>
          </a:xfrm>
          <a:prstGeom prst="rect">
            <a:avLst/>
          </a:prstGeom>
          <a:noFill/>
          <a:ln/>
        </p:spPr>
        <p:txBody>
          <a:bodyPr wrap="square" lIns="0" tIns="0" rIns="0" bIns="0" rtlCol="0" anchor="t"/>
          <a:lstStyle/>
          <a:p>
            <a:pPr indent="0" marL="0">
              <a:buNone/>
            </a:pPr>
            <a:r>
              <a:rPr lang="en-US" sz="1100" dirty="0">
                <a:solidFill>
                  <a:schemeClr val="bg1"/>
                </a:solidFill>
                <a:latin typeface="Calibri" pitchFamily="34" charset="0"/>
                <a:ea typeface="Calibri" pitchFamily="34" charset="-122"/>
                <a:cs typeface="Calibri" pitchFamily="34" charset="-120"/>
              </a:rPr>
              <a:t>“now” and “when device X ends” become numbers from the simulator</a:t>
            </a:r>
            <a:endParaRPr lang="en-US" sz="1100" dirty="0"/>
          </a:p>
        </p:txBody>
      </p:sp>
      <p:sp>
        <p:nvSpPr>
          <p:cNvPr id="27" name="Shape 25"/>
          <p:cNvSpPr/>
          <p:nvPr/>
        </p:nvSpPr>
        <p:spPr>
          <a:xfrm>
            <a:off x="4457700" y="3817620"/>
            <a:ext cx="228600" cy="0"/>
          </a:xfrm>
          <a:prstGeom prst="line">
            <a:avLst/>
          </a:prstGeom>
          <a:noFill/>
          <a:ln w="25400">
            <a:solidFill>
              <a:srgbClr val="8A94A6"/>
            </a:solidFill>
            <a:prstDash val="solid"/>
            <a:tailEnd type="triangle"/>
          </a:ln>
        </p:spPr>
      </p:sp>
      <p:sp>
        <p:nvSpPr>
          <p:cNvPr id="28" name="Step 3"/>
          <p:cNvSpPr/>
          <p:nvPr/>
        </p:nvSpPr>
        <p:spPr>
          <a:xfrm>
            <a:off x="4686300" y="3108960"/>
            <a:ext cx="1783080" cy="1417320"/>
          </a:xfrm>
          <a:prstGeom prst="roundRect">
            <a:avLst>
              <a:gd name="adj" fmla="val 5161"/>
            </a:avLst>
          </a:prstGeom>
          <a:solidFill>
            <a:srgbClr val="1B2A41"/>
          </a:solidFill>
          <a:ln w="6350">
            <a:solidFill>
              <a:srgbClr val="1B2A41"/>
            </a:solidFill>
            <a:prstDash val="solid"/>
          </a:ln>
        </p:spPr>
      </p:sp>
      <p:sp>
        <p:nvSpPr>
          <p:cNvPr id="29" name="Step 3 title"/>
          <p:cNvSpPr txBox="1"/>
          <p:nvPr/>
        </p:nvSpPr>
        <p:spPr>
          <a:xfrm>
            <a:off x="4796028" y="3200400"/>
            <a:ext cx="1563624" cy="274320"/>
          </a:xfrm>
          <a:prstGeom prst="rect">
            <a:avLst/>
          </a:prstGeom>
          <a:noFill/>
          <a:ln/>
        </p:spPr>
        <p:txBody>
          <a:bodyPr wrap="square" lIns="0" tIns="0" rIns="0" bIns="0" rtlCol="0" anchor="t"/>
          <a:lstStyle/>
          <a:p>
            <a:pPr indent="0" marL="0">
              <a:buNone/>
            </a:pPr>
            <a:r>
              <a:rPr lang="en-US" sz="1300" b="1" dirty="0">
                <a:solidFill>
                  <a:schemeClr val="bg1"/>
                </a:solidFill>
                <a:latin typeface="Calibri" pitchFamily="34" charset="0"/>
                <a:ea typeface="Calibri" pitchFamily="34" charset="-122"/>
                <a:cs typeface="Calibri" pitchFamily="34" charset="-120"/>
              </a:rPr>
              <a:t>3. Z3 check</a:t>
            </a:r>
            <a:endParaRPr lang="en-US" sz="1300" dirty="0"/>
          </a:p>
        </p:txBody>
      </p:sp>
      <p:sp>
        <p:nvSpPr>
          <p:cNvPr id="30" name="Step 3 text"/>
          <p:cNvSpPr txBox="1"/>
          <p:nvPr/>
        </p:nvSpPr>
        <p:spPr>
          <a:xfrm>
            <a:off x="4796028" y="3520440"/>
            <a:ext cx="1563624" cy="914400"/>
          </a:xfrm>
          <a:prstGeom prst="rect">
            <a:avLst/>
          </a:prstGeom>
          <a:noFill/>
          <a:ln/>
        </p:spPr>
        <p:txBody>
          <a:bodyPr wrap="square" lIns="0" tIns="0" rIns="0" bIns="0" rtlCol="0" anchor="t"/>
          <a:lstStyle/>
          <a:p>
            <a:pPr indent="0" marL="0">
              <a:buNone/>
            </a:pPr>
            <a:r>
              <a:rPr lang="en-US" sz="1100" dirty="0">
                <a:solidFill>
                  <a:schemeClr val="bg1"/>
                </a:solidFill>
                <a:latin typeface="Calibri" pitchFamily="34" charset="0"/>
                <a:ea typeface="Calibri" pitchFamily="34" charset="-122"/>
                <a:cs typeface="Calibri" pitchFamily="34" charset="-120"/>
              </a:rPr>
              <a:t>One real-valued time per goal; a clash is UNSAT and the unsat core names it</a:t>
            </a:r>
            <a:endParaRPr lang="en-US" sz="1100" dirty="0"/>
          </a:p>
        </p:txBody>
      </p:sp>
      <p:sp>
        <p:nvSpPr>
          <p:cNvPr id="31" name="Shape 29"/>
          <p:cNvSpPr/>
          <p:nvPr/>
        </p:nvSpPr>
        <p:spPr>
          <a:xfrm>
            <a:off x="6469380" y="3817620"/>
            <a:ext cx="228600" cy="0"/>
          </a:xfrm>
          <a:prstGeom prst="line">
            <a:avLst/>
          </a:prstGeom>
          <a:noFill/>
          <a:ln w="25400">
            <a:solidFill>
              <a:srgbClr val="8A94A6"/>
            </a:solidFill>
            <a:prstDash val="solid"/>
            <a:tailEnd type="triangle"/>
          </a:ln>
        </p:spPr>
      </p:sp>
      <p:sp>
        <p:nvSpPr>
          <p:cNvPr id="32" name="Step 4"/>
          <p:cNvSpPr/>
          <p:nvPr/>
        </p:nvSpPr>
        <p:spPr>
          <a:xfrm>
            <a:off x="6697980" y="3108960"/>
            <a:ext cx="1783080" cy="1417320"/>
          </a:xfrm>
          <a:prstGeom prst="roundRect">
            <a:avLst>
              <a:gd name="adj" fmla="val 5161"/>
            </a:avLst>
          </a:prstGeom>
          <a:solidFill>
            <a:srgbClr val="E9A23B"/>
          </a:solidFill>
          <a:ln w="6350">
            <a:solidFill>
              <a:srgbClr val="E9A23B"/>
            </a:solidFill>
            <a:prstDash val="solid"/>
          </a:ln>
        </p:spPr>
      </p:sp>
      <p:sp>
        <p:nvSpPr>
          <p:cNvPr id="33" name="Step 4 title"/>
          <p:cNvSpPr txBox="1"/>
          <p:nvPr/>
        </p:nvSpPr>
        <p:spPr>
          <a:xfrm>
            <a:off x="6807708" y="3200400"/>
            <a:ext cx="1563624" cy="274320"/>
          </a:xfrm>
          <a:prstGeom prst="rect">
            <a:avLst/>
          </a:prstGeom>
          <a:noFill/>
          <a:ln/>
        </p:spPr>
        <p:txBody>
          <a:bodyPr wrap="square" lIns="0" tIns="0" rIns="0" bIns="0" rtlCol="0" anchor="t"/>
          <a:lstStyle/>
          <a:p>
            <a:pPr indent="0" marL="0">
              <a:buNone/>
            </a:pPr>
            <a:r>
              <a:rPr lang="en-US" sz="1300" b="1" dirty="0">
                <a:solidFill>
                  <a:schemeClr val="tx1"/>
                </a:solidFill>
                <a:latin typeface="Calibri" pitchFamily="34" charset="0"/>
                <a:ea typeface="Calibri" pitchFamily="34" charset="-122"/>
                <a:cs typeface="Calibri" pitchFamily="34" charset="-120"/>
              </a:rPr>
              <a:t>4. Verbalizer</a:t>
            </a:r>
            <a:endParaRPr lang="en-US" sz="1300" dirty="0"/>
          </a:p>
        </p:txBody>
      </p:sp>
      <p:sp>
        <p:nvSpPr>
          <p:cNvPr id="34" name="Step 4 text"/>
          <p:cNvSpPr txBox="1"/>
          <p:nvPr/>
        </p:nvSpPr>
        <p:spPr>
          <a:xfrm>
            <a:off x="6807708" y="3520440"/>
            <a:ext cx="1563624" cy="914400"/>
          </a:xfrm>
          <a:prstGeom prst="rect">
            <a:avLst/>
          </a:prstGeom>
          <a:noFill/>
          <a:ln/>
        </p:spPr>
        <p:txBody>
          <a:bodyPr wrap="square" lIns="0" tIns="0" rIns="0" bIns="0" rtlCol="0" anchor="t"/>
          <a:lstStyle/>
          <a:p>
            <a:pPr indent="0" marL="0">
              <a:buNone/>
            </a:pPr>
            <a:r>
              <a:rPr lang="en-US" sz="1100" dirty="0">
                <a:solidFill>
                  <a:schemeClr val="tx1"/>
                </a:solidFill>
                <a:latin typeface="Calibri" pitchFamily="34" charset="0"/>
                <a:ea typeface="Calibri" pitchFamily="34" charset="-122"/>
                <a:cs typeface="Calibri" pitchFamily="34" charset="-120"/>
              </a:rPr>
              <a:t>Turns the unsat core into a plain-language reason for the agent</a:t>
            </a:r>
            <a:endParaRPr lang="en-US" sz="1100" dirty="0"/>
          </a:p>
        </p:txBody>
      </p:sp>
      <p:sp>
        <p:nvSpPr>
          <p:cNvPr id="35" name="Shape 33"/>
          <p:cNvSpPr/>
          <p:nvPr/>
        </p:nvSpPr>
        <p:spPr>
          <a:xfrm>
            <a:off x="6172200" y="2057400"/>
            <a:ext cx="0" cy="548640"/>
          </a:xfrm>
          <a:prstGeom prst="line">
            <a:avLst/>
          </a:prstGeom>
          <a:noFill/>
          <a:ln w="25400">
            <a:solidFill>
              <a:srgbClr val="2A9D8F"/>
            </a:solidFill>
            <a:prstDash val="solid"/>
            <a:tailEnd type="triangle"/>
          </a:ln>
        </p:spPr>
      </p:sp>
      <p:sp>
        <p:nvSpPr>
          <p:cNvPr id="36" name="Intercept label"/>
          <p:cNvSpPr txBox="1"/>
          <p:nvPr/>
        </p:nvSpPr>
        <p:spPr>
          <a:xfrm>
            <a:off x="6309360" y="2212848"/>
            <a:ext cx="2377440" cy="228600"/>
          </a:xfrm>
          <a:prstGeom prst="rect">
            <a:avLst/>
          </a:prstGeom>
          <a:noFill/>
          <a:ln/>
        </p:spPr>
        <p:txBody>
          <a:bodyPr wrap="square" lIns="0" tIns="0" rIns="0" bIns="0" rtlCol="0" anchor="t"/>
          <a:lstStyle/>
          <a:p>
            <a:pPr indent="0" marL="0">
              <a:buNone/>
            </a:pPr>
            <a:r>
              <a:rPr lang="en-US" sz="1100" i="1" dirty="0">
                <a:solidFill>
                  <a:srgbClr val="2A9D8F"/>
                </a:solidFill>
                <a:latin typeface="Calibri" pitchFamily="34" charset="0"/>
                <a:ea typeface="Calibri" pitchFamily="34" charset="-122"/>
                <a:cs typeface="Calibri" pitchFamily="34" charset="-120"/>
              </a:rPr>
              <a:t>1  every call is intercepted</a:t>
            </a:r>
            <a:endParaRPr lang="en-US" sz="1100" dirty="0"/>
          </a:p>
        </p:txBody>
      </p:sp>
      <p:sp>
        <p:nvSpPr>
          <p:cNvPr id="37" name="Shape 35"/>
          <p:cNvSpPr/>
          <p:nvPr/>
        </p:nvSpPr>
        <p:spPr>
          <a:xfrm>
            <a:off x="3749040" y="2057400"/>
            <a:ext cx="0" cy="548640"/>
          </a:xfrm>
          <a:prstGeom prst="line">
            <a:avLst/>
          </a:prstGeom>
          <a:noFill/>
          <a:ln w="25400">
            <a:solidFill>
              <a:srgbClr val="C0392B"/>
            </a:solidFill>
            <a:prstDash val="solid"/>
            <a:headEnd type="triangle"/>
          </a:ln>
        </p:spPr>
      </p:sp>
      <p:sp>
        <p:nvSpPr>
          <p:cNvPr id="38" name="Reject label"/>
          <p:cNvSpPr txBox="1"/>
          <p:nvPr/>
        </p:nvSpPr>
        <p:spPr>
          <a:xfrm>
            <a:off x="914400" y="2212848"/>
            <a:ext cx="2743200" cy="228600"/>
          </a:xfrm>
          <a:prstGeom prst="rect">
            <a:avLst/>
          </a:prstGeom>
          <a:noFill/>
          <a:ln/>
        </p:spPr>
        <p:txBody>
          <a:bodyPr wrap="square" lIns="0" tIns="0" rIns="0" bIns="0" rtlCol="0" anchor="t"/>
          <a:lstStyle/>
          <a:p>
            <a:pPr algn="r" indent="0" marL="0">
              <a:buNone/>
            </a:pPr>
            <a:r>
              <a:rPr lang="en-US" sz="1100" i="1" dirty="0">
                <a:solidFill>
                  <a:srgbClr val="C0392B"/>
                </a:solidFill>
                <a:latin typeface="Calibri" pitchFamily="34" charset="0"/>
                <a:ea typeface="Calibri" pitchFamily="34" charset="-122"/>
                <a:cs typeface="Calibri" pitchFamily="34" charset="-120"/>
              </a:rPr>
              <a:t>2  contradiction: reject with a reason</a:t>
            </a:r>
            <a:endParaRPr lang="en-US" sz="1100" dirty="0"/>
          </a:p>
        </p:txBody>
      </p:sp>
      <p:sp>
        <p:nvSpPr>
          <p:cNvPr id="39" name="Pass label"/>
          <p:cNvSpPr txBox="1"/>
          <p:nvPr/>
        </p:nvSpPr>
        <p:spPr>
          <a:xfrm>
            <a:off x="457200" y="4754880"/>
            <a:ext cx="7772400" cy="228600"/>
          </a:xfrm>
          <a:prstGeom prst="rect">
            <a:avLst/>
          </a:prstGeom>
          <a:noFill/>
          <a:ln/>
        </p:spPr>
        <p:txBody>
          <a:bodyPr wrap="square" lIns="0" tIns="0" rIns="0" bIns="0" rtlCol="0" anchor="t"/>
          <a:lstStyle/>
          <a:p>
            <a:pPr indent="0" marL="0">
              <a:buNone/>
            </a:pPr>
            <a:r>
              <a:rPr lang="en-US" sz="1100" i="1" dirty="0">
                <a:solidFill>
                  <a:srgbClr val="2A9D8F"/>
                </a:solidFill>
                <a:latin typeface="Calibri" pitchFamily="34" charset="0"/>
                <a:ea typeface="Calibri" pitchFamily="34" charset="-122"/>
                <a:cs typeface="Calibri" pitchFamily="34" charset="-120"/>
              </a:rPr>
              <a:t>3  Consistent request: the call passes through unchanged. If the parser fails, the gate fails open.</a:t>
            </a:r>
            <a:endParaRPr lang="en-US" sz="11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1B2A41"/>
                </a:solidFill>
                <a:latin typeface="Cambria" pitchFamily="34" charset="0"/>
                <a:ea typeface="Cambria" pitchFamily="34" charset="-122"/>
                <a:cs typeface="Cambria" pitchFamily="34" charset="-120"/>
              </a:rPr>
              <a:t>How it works, step by step</a:t>
            </a:r>
            <a:endParaRPr lang="en-US" sz="2800" dirty="0"/>
          </a:p>
        </p:txBody>
      </p:sp>
      <p:sp>
        <p:nvSpPr>
          <p:cNvPr id="3" name="Step 1 dot"/>
          <p:cNvSpPr/>
          <p:nvPr/>
        </p:nvSpPr>
        <p:spPr>
          <a:xfrm>
            <a:off x="457200" y="1143000"/>
            <a:ext cx="384048" cy="384048"/>
          </a:xfrm>
          <a:prstGeom prst="ellipse">
            <a:avLst/>
          </a:prstGeom>
          <a:solidFill>
            <a:srgbClr val="2A9D8F"/>
          </a:solidFill>
          <a:ln w="6350">
            <a:solidFill>
              <a:srgbClr val="2A9D8F"/>
            </a:solidFill>
            <a:prstDash val="solid"/>
          </a:ln>
        </p:spPr>
      </p:sp>
      <p:sp>
        <p:nvSpPr>
          <p:cNvPr id="4" name="Step 1 number"/>
          <p:cNvSpPr txBox="1"/>
          <p:nvPr/>
        </p:nvSpPr>
        <p:spPr>
          <a:xfrm>
            <a:off x="457200" y="1143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Step 1 text"/>
          <p:cNvSpPr txBox="1"/>
          <p:nvPr/>
        </p:nvSpPr>
        <p:spPr>
          <a:xfrm>
            <a:off x="1005840" y="1097280"/>
            <a:ext cx="4206240" cy="82296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latin typeface="Calibri" pitchFamily="34" charset="0"/>
                <a:ea typeface="Calibri" pitchFamily="34" charset="-122"/>
                <a:cs typeface="Calibri" pitchFamily="34" charset="-120"/>
              </a:rPr>
              <a:t>Parse</a:t>
            </a:r>
            <a:endParaRPr lang="en-US" sz="1600" dirty="0"/>
          </a:p>
          <a:p>
            <a:pPr indent="0" marL="0">
              <a:buNone/>
            </a:pPr>
            <a:r>
              <a:rPr lang="en-US" sz="1300" dirty="0">
                <a:solidFill>
                  <a:schemeClr val="tx2"/>
                </a:solidFill>
                <a:latin typeface="Calibri" pitchFamily="34" charset="0"/>
                <a:ea typeface="Calibri" pitchFamily="34" charset="-122"/>
                <a:cs typeface="Calibri" pitchFamily="34" charset="-120"/>
              </a:rPr>
              <a:t>Qwen3-1.7B + LoRA writes a structured IR: goals, each with time readings (after / before / at, anchor, offset).</a:t>
            </a:r>
            <a:endParaRPr lang="en-US" sz="1600" dirty="0"/>
          </a:p>
        </p:txBody>
      </p:sp>
      <p:sp>
        <p:nvSpPr>
          <p:cNvPr id="6" name="Step 2 dot"/>
          <p:cNvSpPr/>
          <p:nvPr/>
        </p:nvSpPr>
        <p:spPr>
          <a:xfrm>
            <a:off x="457200" y="2029968"/>
            <a:ext cx="384048" cy="384048"/>
          </a:xfrm>
          <a:prstGeom prst="ellipse">
            <a:avLst/>
          </a:prstGeom>
          <a:solidFill>
            <a:srgbClr val="2A9D8F"/>
          </a:solidFill>
          <a:ln w="6350">
            <a:solidFill>
              <a:srgbClr val="2A9D8F"/>
            </a:solidFill>
            <a:prstDash val="solid"/>
          </a:ln>
        </p:spPr>
      </p:sp>
      <p:sp>
        <p:nvSpPr>
          <p:cNvPr id="7" name="Step 2 number"/>
          <p:cNvSpPr txBox="1"/>
          <p:nvPr/>
        </p:nvSpPr>
        <p:spPr>
          <a:xfrm>
            <a:off x="457200" y="20299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 name="Step 2 text"/>
          <p:cNvSpPr txBox="1"/>
          <p:nvPr/>
        </p:nvSpPr>
        <p:spPr>
          <a:xfrm>
            <a:off x="1005840" y="1984248"/>
            <a:ext cx="4206240" cy="82296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latin typeface="Calibri" pitchFamily="34" charset="0"/>
                <a:ea typeface="Calibri" pitchFamily="34" charset="-122"/>
                <a:cs typeface="Calibri" pitchFamily="34" charset="-120"/>
              </a:rPr>
              <a:t>Resolve</a:t>
            </a:r>
            <a:endParaRPr lang="en-US" sz="1600" dirty="0"/>
          </a:p>
          <a:p>
            <a:pPr indent="0" marL="0">
              <a:buNone/>
            </a:pPr>
            <a:r>
              <a:rPr lang="en-US" sz="1300" dirty="0">
                <a:solidFill>
                  <a:schemeClr val="tx2"/>
                </a:solidFill>
                <a:latin typeface="Calibri" pitchFamily="34" charset="0"/>
                <a:ea typeface="Calibri" pitchFamily="34" charset="-122"/>
                <a:cs typeface="Calibri" pitchFamily="34" charset="-120"/>
              </a:rPr>
              <a:t>“Now” and “when device X finishes” become numbers via get_current_time and device state.</a:t>
            </a:r>
            <a:endParaRPr lang="en-US" sz="1600" dirty="0"/>
          </a:p>
        </p:txBody>
      </p:sp>
      <p:sp>
        <p:nvSpPr>
          <p:cNvPr id="9" name="Step 3 dot"/>
          <p:cNvSpPr/>
          <p:nvPr/>
        </p:nvSpPr>
        <p:spPr>
          <a:xfrm>
            <a:off x="457200" y="2916936"/>
            <a:ext cx="384048" cy="384048"/>
          </a:xfrm>
          <a:prstGeom prst="ellipse">
            <a:avLst/>
          </a:prstGeom>
          <a:solidFill>
            <a:srgbClr val="1B2A41"/>
          </a:solidFill>
          <a:ln w="6350">
            <a:solidFill>
              <a:srgbClr val="1B2A41"/>
            </a:solidFill>
            <a:prstDash val="solid"/>
          </a:ln>
        </p:spPr>
      </p:sp>
      <p:sp>
        <p:nvSpPr>
          <p:cNvPr id="10" name="Step 3 number"/>
          <p:cNvSpPr txBox="1"/>
          <p:nvPr/>
        </p:nvSpPr>
        <p:spPr>
          <a:xfrm>
            <a:off x="457200" y="291693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1" name="Step 3 text"/>
          <p:cNvSpPr txBox="1"/>
          <p:nvPr/>
        </p:nvSpPr>
        <p:spPr>
          <a:xfrm>
            <a:off x="1005840" y="2871216"/>
            <a:ext cx="4206240" cy="82296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latin typeface="Calibri" pitchFamily="34" charset="0"/>
                <a:ea typeface="Calibri" pitchFamily="34" charset="-122"/>
                <a:cs typeface="Calibri" pitchFamily="34" charset="-120"/>
              </a:rPr>
              <a:t>Check</a:t>
            </a:r>
            <a:endParaRPr lang="en-US" sz="1600" dirty="0"/>
          </a:p>
          <a:p>
            <a:pPr indent="0" marL="0">
              <a:buNone/>
            </a:pPr>
            <a:r>
              <a:rPr lang="en-US" sz="1300" dirty="0">
                <a:solidFill>
                  <a:schemeClr val="tx2"/>
                </a:solidFill>
                <a:latin typeface="Calibri" pitchFamily="34" charset="0"/>
                <a:ea typeface="Calibri" pitchFamily="34" charset="-122"/>
                <a:cs typeface="Calibri" pitchFamily="34" charset="-120"/>
              </a:rPr>
              <a:t>Z3 gives each goal one real-valued time. Readings that disagree are UNSAT, and the unsat core names the clash.</a:t>
            </a:r>
            <a:endParaRPr lang="en-US" sz="1600" dirty="0"/>
          </a:p>
        </p:txBody>
      </p:sp>
      <p:sp>
        <p:nvSpPr>
          <p:cNvPr id="12" name="Step 4 dot"/>
          <p:cNvSpPr/>
          <p:nvPr/>
        </p:nvSpPr>
        <p:spPr>
          <a:xfrm>
            <a:off x="457200" y="3803904"/>
            <a:ext cx="384048" cy="384048"/>
          </a:xfrm>
          <a:prstGeom prst="ellipse">
            <a:avLst/>
          </a:prstGeom>
          <a:solidFill>
            <a:srgbClr val="2A9D8F"/>
          </a:solidFill>
          <a:ln w="6350">
            <a:solidFill>
              <a:srgbClr val="2A9D8F"/>
            </a:solidFill>
            <a:prstDash val="solid"/>
          </a:ln>
        </p:spPr>
      </p:sp>
      <p:sp>
        <p:nvSpPr>
          <p:cNvPr id="13" name="Step 4 number"/>
          <p:cNvSpPr txBox="1"/>
          <p:nvPr/>
        </p:nvSpPr>
        <p:spPr>
          <a:xfrm>
            <a:off x="457200" y="380390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4" name="Step 4 text"/>
          <p:cNvSpPr txBox="1"/>
          <p:nvPr/>
        </p:nvSpPr>
        <p:spPr>
          <a:xfrm>
            <a:off x="1005840" y="3758184"/>
            <a:ext cx="4206240" cy="822960"/>
          </a:xfrm>
          <a:prstGeom prst="rect">
            <a:avLst/>
          </a:prstGeom>
          <a:noFill/>
          <a:ln/>
        </p:spPr>
        <p:txBody>
          <a:bodyPr wrap="square" lIns="0" tIns="0" rIns="0" bIns="0" rtlCol="0" anchor="t"/>
          <a:lstStyle/>
          <a:p>
            <a:pPr indent="0" marL="0">
              <a:spcAft>
                <a:spcPts val="200"/>
              </a:spcAft>
              <a:buNone/>
            </a:pPr>
            <a:r>
              <a:rPr lang="en-US" sz="1600" b="1" dirty="0">
                <a:solidFill>
                  <a:schemeClr val="tx1"/>
                </a:solidFill>
                <a:latin typeface="Calibri" pitchFamily="34" charset="0"/>
                <a:ea typeface="Calibri" pitchFamily="34" charset="-122"/>
                <a:cs typeface="Calibri" pitchFamily="34" charset="-120"/>
              </a:rPr>
              <a:t>Respond</a:t>
            </a:r>
            <a:endParaRPr lang="en-US" sz="1600" dirty="0"/>
          </a:p>
          <a:p>
            <a:pPr indent="0" marL="0">
              <a:buNone/>
            </a:pPr>
            <a:r>
              <a:rPr lang="en-US" sz="1300" dirty="0">
                <a:solidFill>
                  <a:schemeClr val="tx2"/>
                </a:solidFill>
                <a:latin typeface="Calibri" pitchFamily="34" charset="0"/>
                <a:ea typeface="Calibri" pitchFamily="34" charset="-122"/>
                <a:cs typeface="Calibri" pitchFamily="34" charset="-120"/>
              </a:rPr>
              <a:t>Reject with a 409 and a plain-language reason, or pass the call through unchanged.</a:t>
            </a:r>
            <a:endParaRPr lang="en-US" sz="1600" dirty="0"/>
          </a:p>
        </p:txBody>
      </p:sp>
      <p:sp>
        <p:nvSpPr>
          <p:cNvPr id="15" name="Example card"/>
          <p:cNvSpPr/>
          <p:nvPr/>
        </p:nvSpPr>
        <p:spPr>
          <a:xfrm>
            <a:off x="5486400" y="1097280"/>
            <a:ext cx="3200400" cy="3566160"/>
          </a:xfrm>
          <a:prstGeom prst="roundRect">
            <a:avLst>
              <a:gd name="adj" fmla="val 2286"/>
            </a:avLst>
          </a:prstGeom>
          <a:solidFill>
            <a:srgbClr val="1B2A41"/>
          </a:solidFill>
          <a:ln w="6350">
            <a:solidFill>
              <a:srgbClr val="1B2A41"/>
            </a:solidFill>
            <a:prstDash val="solid"/>
          </a:ln>
        </p:spPr>
      </p:sp>
      <p:sp>
        <p:nvSpPr>
          <p:cNvPr id="16" name="Example head"/>
          <p:cNvSpPr txBox="1"/>
          <p:nvPr/>
        </p:nvSpPr>
        <p:spPr>
          <a:xfrm>
            <a:off x="5669280" y="1216152"/>
            <a:ext cx="2834640" cy="274320"/>
          </a:xfrm>
          <a:prstGeom prst="rect">
            <a:avLst/>
          </a:prstGeom>
          <a:noFill/>
          <a:ln/>
        </p:spPr>
        <p:txBody>
          <a:bodyPr wrap="square" lIns="0" tIns="0" rIns="0" bIns="0" rtlCol="0" anchor="t"/>
          <a:lstStyle/>
          <a:p>
            <a:pPr indent="0" marL="0">
              <a:buNone/>
            </a:pPr>
            <a:r>
              <a:rPr lang="en-US" sz="1600" b="1" dirty="0">
                <a:solidFill>
                  <a:srgbClr val="E9A23B"/>
                </a:solidFill>
                <a:latin typeface="Cambria" pitchFamily="34" charset="0"/>
                <a:ea typeface="Cambria" pitchFamily="34" charset="-122"/>
                <a:cs typeface="Cambria" pitchFamily="34" charset="-120"/>
              </a:rPr>
              <a:t>Worked example</a:t>
            </a:r>
            <a:endParaRPr lang="en-US" sz="1600" dirty="0"/>
          </a:p>
        </p:txBody>
      </p:sp>
      <p:sp>
        <p:nvSpPr>
          <p:cNvPr id="17" name="Example body"/>
          <p:cNvSpPr txBox="1"/>
          <p:nvPr/>
        </p:nvSpPr>
        <p:spPr>
          <a:xfrm>
            <a:off x="5669280" y="1627632"/>
            <a:ext cx="2834640" cy="2926080"/>
          </a:xfrm>
          <a:prstGeom prst="rect">
            <a:avLst/>
          </a:prstGeom>
          <a:noFill/>
          <a:ln/>
        </p:spPr>
        <p:txBody>
          <a:bodyPr wrap="square" lIns="0" tIns="0" rIns="0" bIns="0" rtlCol="0" anchor="t"/>
          <a:lstStyle/>
          <a:p>
            <a:pPr indent="0" marL="0">
              <a:spcAft>
                <a:spcPts val="100"/>
              </a:spcAft>
              <a:buNone/>
            </a:pPr>
            <a:r>
              <a:rPr lang="en-US" sz="1100" b="1" dirty="0">
                <a:solidFill>
                  <a:srgbClr val="E9A23B"/>
                </a:solidFill>
                <a:latin typeface="Calibri" pitchFamily="34" charset="0"/>
                <a:ea typeface="Calibri" pitchFamily="34" charset="-122"/>
                <a:cs typeface="Calibri" pitchFamily="34" charset="-120"/>
              </a:rPr>
              <a:t>REQUEST</a:t>
            </a:r>
            <a:endParaRPr lang="en-US" sz="1100" dirty="0"/>
          </a:p>
          <a:p>
            <a:pPr indent="0" marL="0">
              <a:spcAft>
                <a:spcPts val="900"/>
              </a:spcAft>
              <a:buNone/>
            </a:pPr>
            <a:r>
              <a:rPr lang="en-US" sz="1300" dirty="0">
                <a:solidFill>
                  <a:schemeClr val="bg1"/>
                </a:solidFill>
                <a:latin typeface="Calibri" pitchFamily="34" charset="0"/>
                <a:ea typeface="Calibri" pitchFamily="34" charset="-122"/>
                <a:cs typeface="Calibri" pitchFamily="34" charset="-120"/>
              </a:rPr>
              <a:t>“Schedule light 1 in the kitchen to turn on at 7 PM, that is 25 minutes from now…”</a:t>
            </a:r>
            <a:endParaRPr lang="en-US" sz="1100" dirty="0"/>
          </a:p>
          <a:p>
            <a:pPr indent="0" marL="0">
              <a:spcAft>
                <a:spcPts val="100"/>
              </a:spcAft>
              <a:buNone/>
            </a:pPr>
            <a:r>
              <a:rPr lang="en-US" sz="1100" b="1" dirty="0">
                <a:solidFill>
                  <a:srgbClr val="E9A23B"/>
                </a:solidFill>
                <a:latin typeface="Calibri" pitchFamily="34" charset="0"/>
                <a:ea typeface="Calibri" pitchFamily="34" charset="-122"/>
                <a:cs typeface="Calibri" pitchFamily="34" charset="-120"/>
              </a:rPr>
              <a:t>PARSED</a:t>
            </a:r>
            <a:endParaRPr lang="en-US" sz="1100" dirty="0"/>
          </a:p>
          <a:p>
            <a:pPr indent="0" marL="0">
              <a:spcAft>
                <a:spcPts val="900"/>
              </a:spcAft>
              <a:buNone/>
            </a:pPr>
            <a:r>
              <a:rPr lang="en-US" sz="1300" dirty="0">
                <a:solidFill>
                  <a:schemeClr val="bg1"/>
                </a:solidFill>
                <a:latin typeface="Calibri" pitchFamily="34" charset="0"/>
                <a:ea typeface="Calibri" pitchFamily="34" charset="-122"/>
                <a:cs typeface="Calibri" pitchFamily="34" charset="-120"/>
              </a:rPr>
              <a:t>One action, two readings: now + 25 min, and clock time 19:00.</a:t>
            </a:r>
            <a:endParaRPr lang="en-US" sz="1100" dirty="0"/>
          </a:p>
          <a:p>
            <a:pPr indent="0" marL="0">
              <a:spcAft>
                <a:spcPts val="100"/>
              </a:spcAft>
              <a:buNone/>
            </a:pPr>
            <a:r>
              <a:rPr lang="en-US" sz="1100" b="1" dirty="0">
                <a:solidFill>
                  <a:srgbClr val="E9A23B"/>
                </a:solidFill>
                <a:latin typeface="Calibri" pitchFamily="34" charset="0"/>
                <a:ea typeface="Calibri" pitchFamily="34" charset="-122"/>
                <a:cs typeface="Calibri" pitchFamily="34" charset="-120"/>
              </a:rPr>
              <a:t>Z3</a:t>
            </a:r>
            <a:endParaRPr lang="en-US" sz="1100" dirty="0"/>
          </a:p>
          <a:p>
            <a:pPr indent="0" marL="0">
              <a:spcAft>
                <a:spcPts val="900"/>
              </a:spcAft>
              <a:buNone/>
            </a:pPr>
            <a:r>
              <a:rPr lang="en-US" sz="1300" dirty="0">
                <a:solidFill>
                  <a:schemeClr val="bg1"/>
                </a:solidFill>
                <a:latin typeface="Calibri" pitchFamily="34" charset="0"/>
                <a:ea typeface="Calibri" pitchFamily="34" charset="-122"/>
                <a:cs typeface="Calibri" pitchFamily="34" charset="-120"/>
              </a:rPr>
              <a:t>The two times differ, so the goal is UNSAT.</a:t>
            </a:r>
            <a:endParaRPr lang="en-US" sz="1100" dirty="0"/>
          </a:p>
          <a:p>
            <a:pPr indent="0" marL="0">
              <a:spcAft>
                <a:spcPts val="100"/>
              </a:spcAft>
              <a:buNone/>
            </a:pPr>
            <a:r>
              <a:rPr lang="en-US" sz="1100" b="1" dirty="0">
                <a:solidFill>
                  <a:srgbClr val="E9A23B"/>
                </a:solidFill>
                <a:latin typeface="Calibri" pitchFamily="34" charset="0"/>
                <a:ea typeface="Calibri" pitchFamily="34" charset="-122"/>
                <a:cs typeface="Calibri" pitchFamily="34" charset="-120"/>
              </a:rPr>
              <a:t>AGENT SEES</a:t>
            </a:r>
            <a:endParaRPr lang="en-US" sz="1100" dirty="0"/>
          </a:p>
          <a:p>
            <a:pPr indent="0" marL="0">
              <a:buNone/>
            </a:pPr>
            <a:r>
              <a:rPr lang="en-US" sz="1300" dirty="0">
                <a:solidFill>
                  <a:schemeClr val="bg1"/>
                </a:solidFill>
                <a:latin typeface="Calibri" pitchFamily="34" charset="0"/>
                <a:ea typeface="Calibri" pitchFamily="34" charset="-122"/>
                <a:cs typeface="Calibri" pitchFamily="34" charset="-120"/>
              </a:rPr>
              <a:t>409 TEMPORAL_CONTRADICTION: “stated clock time 19:00 vs. 25.0 min after now”</a:t>
            </a:r>
            <a:endParaRPr lang="en-US" sz="11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2800" b="1" dirty="0">
                <a:solidFill>
                  <a:srgbClr val="1B2A41"/>
                </a:solidFill>
                <a:latin typeface="Cambria" pitchFamily="34" charset="0"/>
                <a:ea typeface="Cambria" pitchFamily="34" charset="-122"/>
                <a:cs typeface="Cambria" pitchFamily="34" charset="-120"/>
              </a:rPr>
              <a:t>Results so far and next steps</a:t>
            </a:r>
            <a:endParaRPr lang="en-US" sz="2800" dirty="0"/>
          </a:p>
        </p:txBody>
      </p:sp>
      <p:graphicFrame>
        <p:nvGraphicFramePr>
          <p:cNvPr id="3" name="Chart 0" descr=""/>
          <p:cNvGraphicFramePr/>
          <p:nvPr/>
        </p:nvGraphicFramePr>
        <p:xfrm>
          <a:off x="457200" y="1051560"/>
          <a:ext cx="4297680" cy="2743200"/>
        </p:xfrm>
        <a:graphic xmlns:a="http://schemas.openxmlformats.org/drawingml/2006/main">
          <a:graphicData uri="http://schemas.openxmlformats.org/drawingml/2006/chart">
            <c:chart xmlns:c="http://schemas.openxmlformats.org/drawingml/2006/chart" r:id="rId1"/>
          </a:graphicData>
        </a:graphic>
      </p:graphicFrame>
      <p:sp>
        <p:nvSpPr>
          <p:cNvPr id="4" name="Stat 1"/>
          <p:cNvSpPr/>
          <p:nvPr/>
        </p:nvSpPr>
        <p:spPr>
          <a:xfrm>
            <a:off x="457200" y="3886200"/>
            <a:ext cx="1371600" cy="868680"/>
          </a:xfrm>
          <a:prstGeom prst="roundRect">
            <a:avLst>
              <a:gd name="adj" fmla="val 8421"/>
            </a:avLst>
          </a:prstGeom>
          <a:solidFill>
            <a:srgbClr val="EEF3F7"/>
          </a:solidFill>
          <a:ln w="6350">
            <a:solidFill>
              <a:srgbClr val="EEF3F7"/>
            </a:solidFill>
            <a:prstDash val="solid"/>
          </a:ln>
        </p:spPr>
      </p:sp>
      <p:sp>
        <p:nvSpPr>
          <p:cNvPr id="5" name="Stat 1 value"/>
          <p:cNvSpPr txBox="1"/>
          <p:nvPr/>
        </p:nvSpPr>
        <p:spPr>
          <a:xfrm>
            <a:off x="502920" y="3931920"/>
            <a:ext cx="1280160" cy="292608"/>
          </a:xfrm>
          <a:prstGeom prst="rect">
            <a:avLst/>
          </a:prstGeom>
          <a:noFill/>
          <a:ln/>
        </p:spPr>
        <p:txBody>
          <a:bodyPr wrap="square" lIns="0" tIns="0" rIns="0" bIns="0" rtlCol="0" anchor="t"/>
          <a:lstStyle/>
          <a:p>
            <a:pPr algn="ctr" indent="0" marL="0">
              <a:buNone/>
            </a:pPr>
            <a:r>
              <a:rPr lang="en-US" sz="1800" b="1" dirty="0">
                <a:solidFill>
                  <a:srgbClr val="2A9D8F"/>
                </a:solidFill>
                <a:latin typeface="Cambria" pitchFamily="34" charset="0"/>
                <a:ea typeface="Cambria" pitchFamily="34" charset="-122"/>
                <a:cs typeface="Cambria" pitchFamily="34" charset="-120"/>
              </a:rPr>
              <a:t>91%</a:t>
            </a:r>
            <a:endParaRPr lang="en-US" sz="1800" dirty="0"/>
          </a:p>
        </p:txBody>
      </p:sp>
      <p:sp>
        <p:nvSpPr>
          <p:cNvPr id="6" name="Stat 1 label"/>
          <p:cNvSpPr txBox="1"/>
          <p:nvPr/>
        </p:nvSpPr>
        <p:spPr>
          <a:xfrm>
            <a:off x="530352" y="4251960"/>
            <a:ext cx="1225296" cy="457200"/>
          </a:xfrm>
          <a:prstGeom prst="rect">
            <a:avLst/>
          </a:prstGeom>
          <a:noFill/>
          <a:ln/>
        </p:spPr>
        <p:txBody>
          <a:bodyPr wrap="square" lIns="0" tIns="0" rIns="0" bIns="0" rtlCol="0" anchor="t"/>
          <a:lstStyle/>
          <a:p>
            <a:pPr algn="ctr" indent="0" marL="0">
              <a:buNone/>
            </a:pPr>
            <a:r>
              <a:rPr lang="en-US" sz="1000" dirty="0">
                <a:solidFill>
                  <a:schemeClr val="tx2"/>
                </a:solidFill>
                <a:latin typeface="Calibri" pitchFamily="34" charset="0"/>
                <a:ea typeface="Calibri" pitchFamily="34" charset="-122"/>
                <a:cs typeface="Calibri" pitchFamily="34" charset="-120"/>
              </a:rPr>
              <a:t>parser verdict accuracy (42 of 46)</a:t>
            </a:r>
            <a:endParaRPr lang="en-US" sz="1000" dirty="0"/>
          </a:p>
        </p:txBody>
      </p:sp>
      <p:sp>
        <p:nvSpPr>
          <p:cNvPr id="7" name="Stat 2"/>
          <p:cNvSpPr/>
          <p:nvPr/>
        </p:nvSpPr>
        <p:spPr>
          <a:xfrm>
            <a:off x="1920240" y="3886200"/>
            <a:ext cx="1371600" cy="868680"/>
          </a:xfrm>
          <a:prstGeom prst="roundRect">
            <a:avLst>
              <a:gd name="adj" fmla="val 8421"/>
            </a:avLst>
          </a:prstGeom>
          <a:solidFill>
            <a:srgbClr val="EEF3F7"/>
          </a:solidFill>
          <a:ln w="6350">
            <a:solidFill>
              <a:srgbClr val="EEF3F7"/>
            </a:solidFill>
            <a:prstDash val="solid"/>
          </a:ln>
        </p:spPr>
      </p:sp>
      <p:sp>
        <p:nvSpPr>
          <p:cNvPr id="8" name="Stat 2 value"/>
          <p:cNvSpPr txBox="1"/>
          <p:nvPr/>
        </p:nvSpPr>
        <p:spPr>
          <a:xfrm>
            <a:off x="1965960" y="3931920"/>
            <a:ext cx="1280160" cy="292608"/>
          </a:xfrm>
          <a:prstGeom prst="rect">
            <a:avLst/>
          </a:prstGeom>
          <a:noFill/>
          <a:ln/>
        </p:spPr>
        <p:txBody>
          <a:bodyPr wrap="square" lIns="0" tIns="0" rIns="0" bIns="0" rtlCol="0" anchor="t"/>
          <a:lstStyle/>
          <a:p>
            <a:pPr algn="ctr" indent="0" marL="0">
              <a:buNone/>
            </a:pPr>
            <a:r>
              <a:rPr lang="en-US" sz="1800" b="1" dirty="0">
                <a:solidFill>
                  <a:srgbClr val="2A9D8F"/>
                </a:solidFill>
                <a:latin typeface="Cambria" pitchFamily="34" charset="0"/>
                <a:ea typeface="Cambria" pitchFamily="34" charset="-122"/>
                <a:cs typeface="Cambria" pitchFamily="34" charset="-120"/>
              </a:rPr>
              <a:t>0 of 28</a:t>
            </a:r>
            <a:endParaRPr lang="en-US" sz="1800" dirty="0"/>
          </a:p>
        </p:txBody>
      </p:sp>
      <p:sp>
        <p:nvSpPr>
          <p:cNvPr id="9" name="Stat 2 label"/>
          <p:cNvSpPr txBox="1"/>
          <p:nvPr/>
        </p:nvSpPr>
        <p:spPr>
          <a:xfrm>
            <a:off x="1993392" y="4251960"/>
            <a:ext cx="1225296" cy="457200"/>
          </a:xfrm>
          <a:prstGeom prst="rect">
            <a:avLst/>
          </a:prstGeom>
          <a:noFill/>
          <a:ln/>
        </p:spPr>
        <p:txBody>
          <a:bodyPr wrap="square" lIns="0" tIns="0" rIns="0" bIns="0" rtlCol="0" anchor="t"/>
          <a:lstStyle/>
          <a:p>
            <a:pPr algn="ctr" indent="0" marL="0">
              <a:buNone/>
            </a:pPr>
            <a:r>
              <a:rPr lang="en-US" sz="1000" dirty="0">
                <a:solidFill>
                  <a:schemeClr val="tx2"/>
                </a:solidFill>
                <a:latin typeface="Calibri" pitchFamily="34" charset="0"/>
                <a:ea typeface="Calibri" pitchFamily="34" charset="-122"/>
                <a:cs typeface="Calibri" pitchFamily="34" charset="-120"/>
              </a:rPr>
              <a:t>valid requests wrongly blocked</a:t>
            </a:r>
            <a:endParaRPr lang="en-US" sz="1000" dirty="0"/>
          </a:p>
        </p:txBody>
      </p:sp>
      <p:sp>
        <p:nvSpPr>
          <p:cNvPr id="10" name="Stat 3"/>
          <p:cNvSpPr/>
          <p:nvPr/>
        </p:nvSpPr>
        <p:spPr>
          <a:xfrm>
            <a:off x="3383280" y="3886200"/>
            <a:ext cx="1371600" cy="868680"/>
          </a:xfrm>
          <a:prstGeom prst="roundRect">
            <a:avLst>
              <a:gd name="adj" fmla="val 8421"/>
            </a:avLst>
          </a:prstGeom>
          <a:solidFill>
            <a:srgbClr val="EEF3F7"/>
          </a:solidFill>
          <a:ln w="6350">
            <a:solidFill>
              <a:srgbClr val="EEF3F7"/>
            </a:solidFill>
            <a:prstDash val="solid"/>
          </a:ln>
        </p:spPr>
      </p:sp>
      <p:sp>
        <p:nvSpPr>
          <p:cNvPr id="11" name="Stat 3 value"/>
          <p:cNvSpPr txBox="1"/>
          <p:nvPr/>
        </p:nvSpPr>
        <p:spPr>
          <a:xfrm>
            <a:off x="3429000" y="3931920"/>
            <a:ext cx="1280160" cy="292608"/>
          </a:xfrm>
          <a:prstGeom prst="rect">
            <a:avLst/>
          </a:prstGeom>
          <a:noFill/>
          <a:ln/>
        </p:spPr>
        <p:txBody>
          <a:bodyPr wrap="square" lIns="0" tIns="0" rIns="0" bIns="0" rtlCol="0" anchor="t"/>
          <a:lstStyle/>
          <a:p>
            <a:pPr algn="ctr" indent="0" marL="0">
              <a:buNone/>
            </a:pPr>
            <a:r>
              <a:rPr lang="en-US" sz="1800" b="1" dirty="0">
                <a:solidFill>
                  <a:srgbClr val="2A9D8F"/>
                </a:solidFill>
                <a:latin typeface="Cambria" pitchFamily="34" charset="0"/>
                <a:ea typeface="Cambria" pitchFamily="34" charset="-122"/>
                <a:cs typeface="Cambria" pitchFamily="34" charset="-120"/>
              </a:rPr>
              <a:t>286/286</a:t>
            </a:r>
            <a:endParaRPr lang="en-US" sz="1800" dirty="0"/>
          </a:p>
        </p:txBody>
      </p:sp>
      <p:sp>
        <p:nvSpPr>
          <p:cNvPr id="12" name="Stat 3 label"/>
          <p:cNvSpPr txBox="1"/>
          <p:nvPr/>
        </p:nvSpPr>
        <p:spPr>
          <a:xfrm>
            <a:off x="3456432" y="4251960"/>
            <a:ext cx="1225296" cy="457200"/>
          </a:xfrm>
          <a:prstGeom prst="rect">
            <a:avLst/>
          </a:prstGeom>
          <a:noFill/>
          <a:ln/>
        </p:spPr>
        <p:txBody>
          <a:bodyPr wrap="square" lIns="0" tIns="0" rIns="0" bIns="0" rtlCol="0" anchor="t"/>
          <a:lstStyle/>
          <a:p>
            <a:pPr algn="ctr" indent="0" marL="0">
              <a:buNone/>
            </a:pPr>
            <a:r>
              <a:rPr lang="en-US" sz="1000" dirty="0">
                <a:solidFill>
                  <a:schemeClr val="tx2"/>
                </a:solidFill>
                <a:latin typeface="Calibri" pitchFamily="34" charset="0"/>
                <a:ea typeface="Calibri" pitchFamily="34" charset="-122"/>
                <a:cs typeface="Calibri" pitchFamily="34" charset="-120"/>
              </a:rPr>
              <a:t>Z3 correct on ground truth</a:t>
            </a:r>
            <a:endParaRPr lang="en-US" sz="1000" dirty="0"/>
          </a:p>
        </p:txBody>
      </p:sp>
      <p:sp>
        <p:nvSpPr>
          <p:cNvPr id="13" name="Next head"/>
          <p:cNvSpPr txBox="1"/>
          <p:nvPr/>
        </p:nvSpPr>
        <p:spPr>
          <a:xfrm>
            <a:off x="5120640" y="1097280"/>
            <a:ext cx="3566160" cy="320040"/>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Next steps</a:t>
            </a:r>
            <a:endParaRPr lang="en-US" sz="1800" dirty="0"/>
          </a:p>
        </p:txBody>
      </p:sp>
      <p:sp>
        <p:nvSpPr>
          <p:cNvPr id="14" name="Next 1 dot"/>
          <p:cNvSpPr/>
          <p:nvPr/>
        </p:nvSpPr>
        <p:spPr>
          <a:xfrm>
            <a:off x="5120640" y="1581912"/>
            <a:ext cx="347472" cy="347472"/>
          </a:xfrm>
          <a:prstGeom prst="ellipse">
            <a:avLst/>
          </a:prstGeom>
          <a:solidFill>
            <a:srgbClr val="1B2A41"/>
          </a:solidFill>
          <a:ln w="6350">
            <a:solidFill>
              <a:srgbClr val="1B2A41"/>
            </a:solidFill>
            <a:prstDash val="solid"/>
          </a:ln>
        </p:spPr>
      </p:sp>
      <p:sp>
        <p:nvSpPr>
          <p:cNvPr id="15" name="Next 1 number"/>
          <p:cNvSpPr txBox="1"/>
          <p:nvPr/>
        </p:nvSpPr>
        <p:spPr>
          <a:xfrm>
            <a:off x="5120640" y="158191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6" name="Next 1 text"/>
          <p:cNvSpPr txBox="1"/>
          <p:nvPr/>
        </p:nvSpPr>
        <p:spPr>
          <a:xfrm>
            <a:off x="5577840" y="1554480"/>
            <a:ext cx="3108960" cy="77724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latin typeface="Calibri" pitchFamily="34" charset="0"/>
                <a:ea typeface="Calibri" pitchFamily="34" charset="-122"/>
                <a:cs typeface="Calibri" pitchFamily="34" charset="-120"/>
              </a:rPr>
              <a:t>Fair comparison</a:t>
            </a:r>
            <a:endParaRPr lang="en-US" sz="1400" dirty="0"/>
          </a:p>
          <a:p>
            <a:pPr indent="0" marL="0">
              <a:buNone/>
            </a:pPr>
            <a:r>
              <a:rPr lang="en-US" sz="1200" dirty="0">
                <a:solidFill>
                  <a:schemeClr val="tx2"/>
                </a:solidFill>
                <a:latin typeface="Calibri" pitchFamily="34" charset="0"/>
                <a:ea typeface="Calibri" pitchFamily="34" charset="-122"/>
                <a:cs typeface="Calibri" pitchFamily="34" charset="-120"/>
              </a:rPr>
              <a:t>Add a prompt-only self-check arm; run QT4-2 and QT4-3 with more episodes.</a:t>
            </a:r>
            <a:endParaRPr lang="en-US" sz="1400" dirty="0"/>
          </a:p>
        </p:txBody>
      </p:sp>
      <p:sp>
        <p:nvSpPr>
          <p:cNvPr id="17" name="Next 2 dot"/>
          <p:cNvSpPr/>
          <p:nvPr/>
        </p:nvSpPr>
        <p:spPr>
          <a:xfrm>
            <a:off x="5120640" y="2450592"/>
            <a:ext cx="347472" cy="347472"/>
          </a:xfrm>
          <a:prstGeom prst="ellipse">
            <a:avLst/>
          </a:prstGeom>
          <a:solidFill>
            <a:srgbClr val="1B2A41"/>
          </a:solidFill>
          <a:ln w="6350">
            <a:solidFill>
              <a:srgbClr val="1B2A41"/>
            </a:solidFill>
            <a:prstDash val="solid"/>
          </a:ln>
        </p:spPr>
      </p:sp>
      <p:sp>
        <p:nvSpPr>
          <p:cNvPr id="18" name="Next 2 number"/>
          <p:cNvSpPr txBox="1"/>
          <p:nvPr/>
        </p:nvSpPr>
        <p:spPr>
          <a:xfrm>
            <a:off x="5120640" y="245059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9" name="Next 2 text"/>
          <p:cNvSpPr txBox="1"/>
          <p:nvPr/>
        </p:nvSpPr>
        <p:spPr>
          <a:xfrm>
            <a:off x="5577840" y="2423160"/>
            <a:ext cx="3108960" cy="77724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latin typeface="Calibri" pitchFamily="34" charset="0"/>
                <a:ea typeface="Calibri" pitchFamily="34" charset="-122"/>
                <a:cs typeface="Calibri" pitchFamily="34" charset="-120"/>
              </a:rPr>
              <a:t>Make the solver earn its place</a:t>
            </a:r>
            <a:endParaRPr lang="en-US" sz="1400" dirty="0"/>
          </a:p>
          <a:p>
            <a:pPr indent="0" marL="0">
              <a:buNone/>
            </a:pPr>
            <a:r>
              <a:rPr lang="en-US" sz="1200" dirty="0">
                <a:solidFill>
                  <a:schemeClr val="tx2"/>
                </a:solidFill>
                <a:latin typeface="Calibri" pitchFamily="34" charset="0"/>
                <a:ea typeface="Calibri" pitchFamily="34" charset="-122"/>
                <a:cs typeface="Calibri" pitchFamily="34" charset="-120"/>
              </a:rPr>
              <a:t>Harder constraints (durations, chains, concurrency) and a Z3 vs plain-code ablation.</a:t>
            </a:r>
            <a:endParaRPr lang="en-US" sz="1400" dirty="0"/>
          </a:p>
        </p:txBody>
      </p:sp>
      <p:sp>
        <p:nvSpPr>
          <p:cNvPr id="20" name="Next 3 dot"/>
          <p:cNvSpPr/>
          <p:nvPr/>
        </p:nvSpPr>
        <p:spPr>
          <a:xfrm>
            <a:off x="5120640" y="3319272"/>
            <a:ext cx="347472" cy="347472"/>
          </a:xfrm>
          <a:prstGeom prst="ellipse">
            <a:avLst/>
          </a:prstGeom>
          <a:solidFill>
            <a:srgbClr val="1B2A41"/>
          </a:solidFill>
          <a:ln w="6350">
            <a:solidFill>
              <a:srgbClr val="1B2A41"/>
            </a:solidFill>
            <a:prstDash val="solid"/>
          </a:ln>
        </p:spPr>
      </p:sp>
      <p:sp>
        <p:nvSpPr>
          <p:cNvPr id="21" name="Next 3 number"/>
          <p:cNvSpPr txBox="1"/>
          <p:nvPr/>
        </p:nvSpPr>
        <p:spPr>
          <a:xfrm>
            <a:off x="5120640" y="3319272"/>
            <a:ext cx="347472"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Next 3 text"/>
          <p:cNvSpPr txBox="1"/>
          <p:nvPr/>
        </p:nvSpPr>
        <p:spPr>
          <a:xfrm>
            <a:off x="5577840" y="3291840"/>
            <a:ext cx="3108960" cy="777240"/>
          </a:xfrm>
          <a:prstGeom prst="rect">
            <a:avLst/>
          </a:prstGeom>
          <a:noFill/>
          <a:ln/>
        </p:spPr>
        <p:txBody>
          <a:bodyPr wrap="square" lIns="0" tIns="0" rIns="0" bIns="0" rtlCol="0" anchor="t"/>
          <a:lstStyle/>
          <a:p>
            <a:pPr indent="0" marL="0">
              <a:spcAft>
                <a:spcPts val="200"/>
              </a:spcAft>
              <a:buNone/>
            </a:pPr>
            <a:r>
              <a:rPr lang="en-US" sz="1400" b="1" dirty="0">
                <a:solidFill>
                  <a:schemeClr val="tx1"/>
                </a:solidFill>
                <a:latin typeface="Calibri" pitchFamily="34" charset="0"/>
                <a:ea typeface="Calibri" pitchFamily="34" charset="-122"/>
                <a:cs typeface="Calibri" pitchFamily="34" charset="-120"/>
              </a:rPr>
              <a:t>Robustness</a:t>
            </a:r>
            <a:endParaRPr lang="en-US" sz="1400" dirty="0"/>
          </a:p>
          <a:p>
            <a:pPr indent="0" marL="0">
              <a:buNone/>
            </a:pPr>
            <a:r>
              <a:rPr lang="en-US" sz="1200" dirty="0">
                <a:solidFill>
                  <a:schemeClr val="tx2"/>
                </a:solidFill>
                <a:latin typeface="Calibri" pitchFamily="34" charset="0"/>
                <a:ea typeface="Calibri" pitchFamily="34" charset="-122"/>
                <a:cs typeface="Calibri" pitchFamily="34" charset="-120"/>
              </a:rPr>
              <a:t>Paraphrased requests, a second agent model, latency overhead.</a:t>
            </a:r>
            <a:endParaRPr lang="en-US" sz="1400" dirty="0"/>
          </a:p>
        </p:txBody>
      </p:sp>
      <p:sp>
        <p:nvSpPr>
          <p:cNvPr id="23" name="Caveat"/>
          <p:cNvSpPr/>
          <p:nvPr/>
        </p:nvSpPr>
        <p:spPr>
          <a:xfrm>
            <a:off x="5120640" y="4206240"/>
            <a:ext cx="3566160" cy="548640"/>
          </a:xfrm>
          <a:prstGeom prst="roundRect">
            <a:avLst>
              <a:gd name="adj" fmla="val 13333"/>
            </a:avLst>
          </a:prstGeom>
          <a:solidFill>
            <a:srgbClr val="EEF3F7"/>
          </a:solidFill>
          <a:ln w="6350">
            <a:solidFill>
              <a:srgbClr val="EEF3F7"/>
            </a:solidFill>
            <a:prstDash val="solid"/>
          </a:ln>
        </p:spPr>
      </p:sp>
      <p:sp>
        <p:nvSpPr>
          <p:cNvPr id="24" name="Caveat text"/>
          <p:cNvSpPr txBox="1"/>
          <p:nvPr/>
        </p:nvSpPr>
        <p:spPr>
          <a:xfrm>
            <a:off x="5257800" y="4297680"/>
            <a:ext cx="3291840" cy="411480"/>
          </a:xfrm>
          <a:prstGeom prst="rect">
            <a:avLst/>
          </a:prstGeom>
          <a:noFill/>
          <a:ln/>
        </p:spPr>
        <p:txBody>
          <a:bodyPr wrap="square" lIns="0" tIns="0" rIns="0" bIns="0" rtlCol="0" anchor="t"/>
          <a:lstStyle/>
          <a:p>
            <a:pPr indent="0" marL="0">
              <a:buNone/>
            </a:pPr>
            <a:r>
              <a:rPr lang="en-US" sz="1100" i="1" dirty="0">
                <a:solidFill>
                  <a:schemeClr val="tx2"/>
                </a:solidFill>
                <a:latin typeface="Calibri" pitchFamily="34" charset="0"/>
                <a:ea typeface="Calibri" pitchFamily="34" charset="-122"/>
                <a:cs typeface="Calibri" pitchFamily="34" charset="-120"/>
              </a:rPr>
              <a:t>Preliminary: 10 episodes per cell, QT4-1 only, one agent (Gemma-31B).</a:t>
            </a:r>
            <a:endParaRPr lang="en-US" sz="1100" dirty="0"/>
          </a:p>
        </p:txBody>
      </p:sp>
      <p:sp>
        <p:nvSpPr>
          <p:cNvPr id="25" name="Slide Number Placeholder 0"/>
          <p:cNvSpPr>
            <a:spLocks noGrp="1"/>
          </p:cNvSpPr>
          <p:nvPr>
            <p:ph type="sldNum" sz="quarter" idx="4294967295"/>
          </p:nvPr>
        </p:nvSpPr>
        <p:spPr>
          <a:xfrm>
            <a:off x="8321040" y="4828032"/>
            <a:ext cx="365760" cy="228600"/>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Neuro-Symbolic Verifier">
  <a:themeElements>
    <a:clrScheme name="Neuro-Symbolic Verifier">
      <a:dk1>
        <a:srgbClr val="1B2A41"/>
      </a:dk1>
      <a:lt1>
        <a:srgbClr val="FFFFFF"/>
      </a:lt1>
      <a:dk2>
        <a:srgbClr val="3D5A80"/>
      </a:dk2>
      <a:lt2>
        <a:srgbClr val="EEF3F7"/>
      </a:lt2>
      <a:accent1>
        <a:srgbClr val="2A9D8F"/>
      </a:accent1>
      <a:accent2>
        <a:srgbClr val="E9A23B"/>
      </a:accent2>
      <a:accent3>
        <a:srgbClr val="C0392B"/>
      </a:accent3>
      <a:accent4>
        <a:srgbClr val="1B2A41"/>
      </a:accent4>
      <a:accent5>
        <a:srgbClr val="8A94A6"/>
      </a:accent5>
      <a:accent6>
        <a:srgbClr val="3D5A80"/>
      </a:accent6>
      <a:hlink>
        <a:srgbClr val="2A9D8F"/>
      </a:hlink>
      <a:folHlink>
        <a:srgbClr val="8A94A6"/>
      </a:folHlink>
    </a:clrScheme>
    <a:fontScheme name="Neuro-Symbolic Verifi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Neuro-Symbolic Verification for LLM Smart-Home Scheduling Agents</dc:title>
  <dc:subject>PptxGenJS Presentation</dc:subject>
  <dc:creator>MTech research project</dc:creator>
  <cp:lastModifiedBy>MTech research project</cp:lastModifiedBy>
  <cp:revision>1</cp:revision>
  <dcterms:created xsi:type="dcterms:W3CDTF">2026-10-06T21:07:57Z</dcterms:created>
  <dcterms:modified xsi:type="dcterms:W3CDTF">2026-10-06T21:07:57Z</dcterms:modified>
</cp:coreProperties>
</file>